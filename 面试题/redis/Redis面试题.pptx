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6.xml" ContentType="application/vnd.openxmlformats-officedocument.theme+xml"/>
  <Override PartName="/ppt/slideLayouts/slideLayout22.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7" r:id="rId5"/>
    <p:sldMasterId id="2147483659" r:id="rId6"/>
    <p:sldMasterId id="2147483675" r:id="rId7"/>
  </p:sldMasterIdLst>
  <p:notesMasterIdLst>
    <p:notesMasterId r:id="rId39"/>
  </p:notesMasterIdLst>
  <p:handoutMasterIdLst>
    <p:handoutMasterId r:id="rId40"/>
  </p:handoutMasterIdLst>
  <p:sldIdLst>
    <p:sldId id="641" r:id="rId8"/>
    <p:sldId id="467" r:id="rId9"/>
    <p:sldId id="1117" r:id="rId10"/>
    <p:sldId id="1146" r:id="rId11"/>
    <p:sldId id="1147" r:id="rId12"/>
    <p:sldId id="1118" r:id="rId13"/>
    <p:sldId id="1130" r:id="rId14"/>
    <p:sldId id="1131" r:id="rId15"/>
    <p:sldId id="1128" r:id="rId16"/>
    <p:sldId id="1129" r:id="rId17"/>
    <p:sldId id="1119" r:id="rId18"/>
    <p:sldId id="1120" r:id="rId19"/>
    <p:sldId id="1121" r:id="rId20"/>
    <p:sldId id="1122" r:id="rId21"/>
    <p:sldId id="1123" r:id="rId22"/>
    <p:sldId id="1124" r:id="rId23"/>
    <p:sldId id="1125" r:id="rId24"/>
    <p:sldId id="1126" r:id="rId25"/>
    <p:sldId id="1127" r:id="rId26"/>
    <p:sldId id="1132" r:id="rId27"/>
    <p:sldId id="1133" r:id="rId28"/>
    <p:sldId id="1134" r:id="rId29"/>
    <p:sldId id="1135" r:id="rId30"/>
    <p:sldId id="1136" r:id="rId31"/>
    <p:sldId id="1137" r:id="rId32"/>
    <p:sldId id="1138" r:id="rId33"/>
    <p:sldId id="1139" r:id="rId34"/>
    <p:sldId id="1140" r:id="rId35"/>
    <p:sldId id="1141" r:id="rId36"/>
    <p:sldId id="1144" r:id="rId37"/>
    <p:sldId id="1145" r:id="rId38"/>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 晓宇" initials="李" lastIdx="1" clrIdx="0"/>
  <p:cmAuthor id="2" name="作者" initials="A" lastIdx="0" clrIdx="1"/>
  <p:cmAuthor id="3" name="sbihc" initials="s" lastIdx="2"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B70006"/>
    <a:srgbClr val="49504F"/>
    <a:srgbClr val="FFFFE4"/>
    <a:srgbClr val="AD2B26"/>
    <a:srgbClr val="B60206"/>
    <a:srgbClr val="919191"/>
    <a:srgbClr val="FFFFFF"/>
    <a:srgbClr val="D9D9D9"/>
    <a:srgbClr val="5151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95306" autoAdjust="0"/>
  </p:normalViewPr>
  <p:slideViewPr>
    <p:cSldViewPr snapToGrid="0">
      <p:cViewPr varScale="1">
        <p:scale>
          <a:sx n="115" d="100"/>
          <a:sy n="115" d="100"/>
        </p:scale>
        <p:origin x="658" y="86"/>
      </p:cViewPr>
      <p:guideLst/>
    </p:cSldViewPr>
  </p:slideViewPr>
  <p:notesTextViewPr>
    <p:cViewPr>
      <p:scale>
        <a:sx n="1" d="1"/>
        <a:sy n="1" d="1"/>
      </p:scale>
      <p:origin x="0" y="0"/>
    </p:cViewPr>
  </p:notesTextViewPr>
  <p:notesViewPr>
    <p:cSldViewPr snapToGrid="0">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commentAuthors" Target="commentAuthor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handoutMaster" Target="handoutMasters/handoutMaster1.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presProps" Target="presProps.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t>2025/10/15</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t>‹#›</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t>2025/10/15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p>
          <a:p>
            <a:pPr lvl="0"/>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15" name="泪珠形 14"/>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3.sv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image" Target="../media/image4.png"/><Relationship Id="rId2" Type="http://schemas.openxmlformats.org/officeDocument/2006/relationships/slideLayout" Target="../slideLayouts/slideLayout8.xml"/><Relationship Id="rId16" Type="http://schemas.openxmlformats.org/officeDocument/2006/relationships/theme" Target="../theme/theme6.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7.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 bg1="lt1" tx1="dk1" bg2="lt2" tx2="dk2" accent1="accent1" accent2="accent2" accent3="accent3" accent4="accent4" accent5="accent5" accent6="accent6" hlink="hlink" folHlink="folHlink"/>
  <p:sldLayoutIdLst>
    <p:sldLayoutId id="2147483651"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0"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42500" y="262878"/>
              <a:ext cx="82090" cy="506266"/>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6" name="图片 15"/>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34242" y="283220"/>
            <a:ext cx="1225447" cy="358241"/>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38713" y="2604635"/>
            <a:ext cx="2314575" cy="955968"/>
          </a:xfrm>
          <a:prstGeom prst="rect">
            <a:avLst/>
          </a:prstGeom>
        </p:spPr>
      </p:pic>
    </p:spTree>
  </p:cSld>
  <p:clrMap bg1="lt1" tx1="dk1" bg2="lt2" tx2="dk2" accent1="accent1" accent2="accent2" accent3="accent3" accent4="accent4" accent5="accent5" accent6="accent6" hlink="hlink" folHlink="folHlink"/>
  <p:sldLayoutIdLst>
    <p:sldLayoutId id="2147483676"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32400" y="2766060"/>
            <a:ext cx="3529965" cy="662940"/>
          </a:xfrm>
        </p:spPr>
        <p:txBody>
          <a:bodyPr/>
          <a:lstStyle/>
          <a:p>
            <a:r>
              <a:rPr lang="en-US" dirty="0"/>
              <a:t>Redis</a:t>
            </a:r>
            <a:r>
              <a:rPr lang="zh-CN" altLang="en-US" dirty="0"/>
              <a:t>面试题</a:t>
            </a:r>
          </a:p>
        </p:txBody>
      </p:sp>
      <p:sp>
        <p:nvSpPr>
          <p:cNvPr id="3" name="文本占位符 2"/>
          <p:cNvSpPr>
            <a:spLocks noGrp="1"/>
          </p:cNvSpPr>
          <p:nvPr>
            <p:ph type="body" sz="quarter" idx="10"/>
          </p:nvPr>
        </p:nvSpPr>
        <p:spPr/>
        <p:txBody>
          <a:bodyPr/>
          <a:lstStyle/>
          <a:p>
            <a:r>
              <a:rPr lang="en-US" altLang="zh-CN" dirty="0"/>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你们项目中为什么要用Redis</a:t>
            </a:r>
          </a:p>
        </p:txBody>
      </p:sp>
      <p:sp>
        <p:nvSpPr>
          <p:cNvPr id="6" name="文本框 5"/>
          <p:cNvSpPr txBox="1"/>
          <p:nvPr/>
        </p:nvSpPr>
        <p:spPr>
          <a:xfrm>
            <a:off x="436880" y="1703705"/>
            <a:ext cx="11040110" cy="2640965"/>
          </a:xfrm>
          <a:prstGeom prst="rect">
            <a:avLst/>
          </a:prstGeom>
          <a:noFill/>
        </p:spPr>
        <p:txBody>
          <a:bodyPr wrap="square">
            <a:noAutofit/>
          </a:bodyPr>
          <a:lstStyle/>
          <a:p>
            <a:pPr fontAlgn="auto">
              <a:lnSpc>
                <a:spcPct val="170000"/>
              </a:lnSpc>
              <a:spcBef>
                <a:spcPts val="0"/>
              </a:spcBef>
              <a:spcAft>
                <a:spcPts val="0"/>
              </a:spcAft>
            </a:pPr>
            <a:r>
              <a:rPr 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结合业务场景</a:t>
            </a:r>
          </a:p>
          <a:p>
            <a:pPr fontAlgn="auto">
              <a:lnSpc>
                <a:spcPct val="170000"/>
              </a:lnSpc>
              <a:spcBef>
                <a:spcPts val="0"/>
              </a:spcBef>
              <a:spcAft>
                <a:spcPts val="0"/>
              </a:spcAft>
            </a:pPr>
            <a:r>
              <a:rPr 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一般</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Redis</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用于缓存，比如登录的验证码、后台的一些常用配置，根本在于减少数据库的读取次数，以提高</a:t>
            </a:r>
          </a:p>
          <a:p>
            <a:pPr fontAlgn="auto">
              <a:lnSpc>
                <a:spcPct val="170000"/>
              </a:lnSpc>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应用程序性能和减轻数据库压力</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Redis为什么快？</a:t>
            </a:r>
          </a:p>
        </p:txBody>
      </p:sp>
      <p:sp>
        <p:nvSpPr>
          <p:cNvPr id="6" name="文本框 5"/>
          <p:cNvSpPr txBox="1"/>
          <p:nvPr/>
        </p:nvSpPr>
        <p:spPr>
          <a:xfrm>
            <a:off x="365125" y="1787525"/>
            <a:ext cx="11040110" cy="2635885"/>
          </a:xfrm>
          <a:prstGeom prst="rect">
            <a:avLst/>
          </a:prstGeom>
          <a:noFill/>
        </p:spPr>
        <p:txBody>
          <a:bodyPr wrap="square">
            <a:noAutofit/>
          </a:bodyPr>
          <a:lstStyle/>
          <a:p>
            <a:pPr fontAlgn="auto">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纯内存操作 </a:t>
            </a:r>
          </a:p>
          <a:p>
            <a:pPr fontAlgn="auto">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核心是基于非阻塞的 IO 多路复用机制 </a:t>
            </a:r>
          </a:p>
          <a:p>
            <a:pPr fontAlgn="auto">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单线程反而避免了多线程的频繁上下文切换问题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说说你了解的Redis数据结构</a:t>
            </a:r>
          </a:p>
        </p:txBody>
      </p:sp>
      <p:sp>
        <p:nvSpPr>
          <p:cNvPr id="6" name="文本框 5"/>
          <p:cNvSpPr txBox="1"/>
          <p:nvPr/>
        </p:nvSpPr>
        <p:spPr>
          <a:xfrm>
            <a:off x="365125" y="1787525"/>
            <a:ext cx="11040110" cy="2635885"/>
          </a:xfrm>
          <a:prstGeom prst="rect">
            <a:avLst/>
          </a:prstGeom>
          <a:noFill/>
        </p:spPr>
        <p:txBody>
          <a:bodyPr wrap="square">
            <a:noAutofit/>
          </a:bodyPr>
          <a:lstStyle/>
          <a:p>
            <a:r>
              <a:rPr lang="en-US" altLang="zh-CN" sz="900" b="1" dirty="0"/>
              <a:t>1. String</a:t>
            </a:r>
            <a:r>
              <a:rPr lang="zh-CN" altLang="en-US" sz="900" b="1" dirty="0"/>
              <a:t>（字符串）</a:t>
            </a:r>
          </a:p>
          <a:p>
            <a:r>
              <a:rPr lang="zh-CN" altLang="en-US" sz="900" b="1" dirty="0"/>
              <a:t>简介</a:t>
            </a:r>
            <a:r>
              <a:rPr lang="zh-CN" altLang="en-US" sz="900" dirty="0"/>
              <a:t>：</a:t>
            </a:r>
            <a:r>
              <a:rPr lang="en-US" altLang="zh-CN" sz="900" dirty="0"/>
              <a:t>Redis </a:t>
            </a:r>
            <a:r>
              <a:rPr lang="zh-CN" altLang="en-US" sz="900" dirty="0"/>
              <a:t>中最基础的数据结构，以键值对（</a:t>
            </a:r>
            <a:r>
              <a:rPr lang="en-US" altLang="zh-CN" sz="900" dirty="0"/>
              <a:t>Key-Value</a:t>
            </a:r>
            <a:r>
              <a:rPr lang="zh-CN" altLang="en-US" sz="900" dirty="0"/>
              <a:t>）形式存储，</a:t>
            </a:r>
            <a:r>
              <a:rPr lang="en-US" altLang="zh-CN" sz="900" dirty="0"/>
              <a:t>Value </a:t>
            </a:r>
            <a:r>
              <a:rPr lang="zh-CN" altLang="en-US" sz="900" dirty="0"/>
              <a:t>可以是字符串、数字或二进制数据（最大 </a:t>
            </a:r>
            <a:r>
              <a:rPr lang="en-US" altLang="zh-CN" sz="900" dirty="0"/>
              <a:t>512MB</a:t>
            </a:r>
            <a:r>
              <a:rPr lang="zh-CN" altLang="en-US" sz="900" dirty="0"/>
              <a:t>）。</a:t>
            </a:r>
          </a:p>
          <a:p>
            <a:r>
              <a:rPr lang="zh-CN" altLang="en-US" sz="900" b="1" dirty="0"/>
              <a:t>底层实现</a:t>
            </a:r>
            <a:r>
              <a:rPr lang="zh-CN" altLang="en-US" sz="900" dirty="0"/>
              <a:t>：</a:t>
            </a:r>
          </a:p>
          <a:p>
            <a:pPr lvl="1"/>
            <a:r>
              <a:rPr lang="zh-CN" altLang="en-US" sz="900" dirty="0"/>
              <a:t>短字符串（</a:t>
            </a:r>
            <a:r>
              <a:rPr lang="en-US" altLang="zh-CN" sz="900" dirty="0"/>
              <a:t>&lt;= 44 </a:t>
            </a:r>
            <a:r>
              <a:rPr lang="zh-CN" altLang="en-US" sz="900" dirty="0"/>
              <a:t>字节）：采用 </a:t>
            </a:r>
            <a:r>
              <a:rPr lang="en-US" altLang="zh-CN" sz="900" dirty="0" err="1"/>
              <a:t>embstr</a:t>
            </a:r>
            <a:r>
              <a:rPr lang="zh-CN" altLang="en-US" sz="900" dirty="0"/>
              <a:t> 编码（连续内存，节省空间）。</a:t>
            </a:r>
          </a:p>
          <a:p>
            <a:pPr lvl="1"/>
            <a:r>
              <a:rPr lang="zh-CN" altLang="en-US" sz="900" dirty="0"/>
              <a:t>长字符串（</a:t>
            </a:r>
            <a:r>
              <a:rPr lang="en-US" altLang="zh-CN" sz="900" dirty="0"/>
              <a:t>&gt; 44 </a:t>
            </a:r>
            <a:r>
              <a:rPr lang="zh-CN" altLang="en-US" sz="900" dirty="0"/>
              <a:t>字节）：采用 </a:t>
            </a:r>
            <a:r>
              <a:rPr lang="en-US" altLang="zh-CN" sz="900" dirty="0"/>
              <a:t>raw</a:t>
            </a:r>
            <a:r>
              <a:rPr lang="zh-CN" altLang="en-US" sz="900" dirty="0"/>
              <a:t> 编码（动态字符串 </a:t>
            </a:r>
            <a:r>
              <a:rPr lang="en-US" altLang="zh-CN" sz="900" dirty="0"/>
              <a:t>SDS</a:t>
            </a:r>
            <a:r>
              <a:rPr lang="zh-CN" altLang="en-US" sz="900" dirty="0"/>
              <a:t>，支持高效扩容）。</a:t>
            </a:r>
          </a:p>
          <a:p>
            <a:r>
              <a:rPr lang="zh-CN" altLang="en-US" sz="900" b="1" dirty="0"/>
              <a:t>常用命令</a:t>
            </a:r>
            <a:r>
              <a:rPr lang="zh-CN" altLang="en-US" sz="900" dirty="0"/>
              <a:t>：</a:t>
            </a:r>
            <a:r>
              <a:rPr lang="en-US" altLang="zh-CN" sz="900" dirty="0"/>
              <a:t>SET</a:t>
            </a:r>
            <a:r>
              <a:rPr lang="zh-CN" altLang="en-US" sz="900" dirty="0"/>
              <a:t>（设置）、</a:t>
            </a:r>
            <a:r>
              <a:rPr lang="en-US" altLang="zh-CN" sz="900" dirty="0"/>
              <a:t>GET</a:t>
            </a:r>
            <a:r>
              <a:rPr lang="zh-CN" altLang="en-US" sz="900" dirty="0"/>
              <a:t>（获取）、</a:t>
            </a:r>
            <a:r>
              <a:rPr lang="en-US" altLang="zh-CN" sz="900" dirty="0"/>
              <a:t>INCR</a:t>
            </a:r>
            <a:r>
              <a:rPr lang="zh-CN" altLang="en-US" sz="900" dirty="0"/>
              <a:t>（自增）、</a:t>
            </a:r>
            <a:r>
              <a:rPr lang="en-US" altLang="zh-CN" sz="900" dirty="0"/>
              <a:t>APPEND</a:t>
            </a:r>
            <a:r>
              <a:rPr lang="zh-CN" altLang="en-US" sz="900" dirty="0"/>
              <a:t>（追加）、</a:t>
            </a:r>
            <a:r>
              <a:rPr lang="en-US" altLang="zh-CN" sz="900" dirty="0"/>
              <a:t>EXPIRE</a:t>
            </a:r>
            <a:r>
              <a:rPr lang="zh-CN" altLang="en-US" sz="900" dirty="0"/>
              <a:t>（设置过期时间）等。</a:t>
            </a:r>
          </a:p>
          <a:p>
            <a:r>
              <a:rPr lang="zh-CN" altLang="en-US" sz="900" b="1" dirty="0"/>
              <a:t>适用场景</a:t>
            </a:r>
            <a:r>
              <a:rPr lang="zh-CN" altLang="en-US" sz="900" dirty="0"/>
              <a:t>：缓存简单数据（如用户信息 </a:t>
            </a:r>
            <a:r>
              <a:rPr lang="en-US" altLang="zh-CN" sz="900" dirty="0"/>
              <a:t>JSON </a:t>
            </a:r>
            <a:r>
              <a:rPr lang="zh-CN" altLang="en-US" sz="900" dirty="0"/>
              <a:t>串）、计数器（如文章阅读量）、分布式锁（</a:t>
            </a:r>
            <a:r>
              <a:rPr lang="en-US" altLang="zh-CN" sz="900" dirty="0"/>
              <a:t>SET NX</a:t>
            </a:r>
            <a:r>
              <a:rPr lang="zh-CN" altLang="en-US" sz="900" dirty="0"/>
              <a:t>）、限流（</a:t>
            </a:r>
            <a:r>
              <a:rPr lang="en-US" altLang="zh-CN" sz="900" dirty="0"/>
              <a:t>INCR</a:t>
            </a:r>
            <a:r>
              <a:rPr lang="zh-CN" altLang="en-US" sz="900" dirty="0"/>
              <a:t> </a:t>
            </a:r>
            <a:r>
              <a:rPr lang="en-US" altLang="zh-CN" sz="900" dirty="0"/>
              <a:t>+ </a:t>
            </a:r>
            <a:r>
              <a:rPr lang="zh-CN" altLang="en-US" sz="900" dirty="0"/>
              <a:t>过期时间）等。</a:t>
            </a:r>
          </a:p>
          <a:p>
            <a:r>
              <a:rPr lang="en-US" altLang="zh-CN" sz="900" b="1" dirty="0"/>
              <a:t>2. Hash</a:t>
            </a:r>
            <a:r>
              <a:rPr lang="zh-CN" altLang="en-US" sz="900" b="1" dirty="0"/>
              <a:t>（哈希）</a:t>
            </a:r>
          </a:p>
          <a:p>
            <a:r>
              <a:rPr lang="zh-CN" altLang="en-US" sz="900" b="1" dirty="0"/>
              <a:t>简介</a:t>
            </a:r>
            <a:r>
              <a:rPr lang="zh-CN" altLang="en-US" sz="900" dirty="0"/>
              <a:t>：类似 </a:t>
            </a:r>
            <a:r>
              <a:rPr lang="en-US" altLang="zh-CN" sz="900" dirty="0"/>
              <a:t>Java </a:t>
            </a:r>
            <a:r>
              <a:rPr lang="zh-CN" altLang="en-US" sz="900" dirty="0"/>
              <a:t>的 </a:t>
            </a:r>
            <a:r>
              <a:rPr lang="en-US" altLang="zh-CN" sz="900" dirty="0"/>
              <a:t>HashMap</a:t>
            </a:r>
            <a:r>
              <a:rPr lang="zh-CN" altLang="en-US" sz="900" dirty="0"/>
              <a:t>，存储字段（</a:t>
            </a:r>
            <a:r>
              <a:rPr lang="en-US" altLang="zh-CN" sz="900" dirty="0"/>
              <a:t>field</a:t>
            </a:r>
            <a:r>
              <a:rPr lang="zh-CN" altLang="en-US" sz="900" dirty="0"/>
              <a:t>）和值（</a:t>
            </a:r>
            <a:r>
              <a:rPr lang="en-US" altLang="zh-CN" sz="900" dirty="0"/>
              <a:t>value</a:t>
            </a:r>
            <a:r>
              <a:rPr lang="zh-CN" altLang="en-US" sz="900" dirty="0"/>
              <a:t>）的映射，适合表示对象（如用户信息：</a:t>
            </a:r>
            <a:r>
              <a:rPr lang="en-US" altLang="zh-CN" sz="900" dirty="0"/>
              <a:t>id</a:t>
            </a:r>
            <a:r>
              <a:rPr lang="zh-CN" altLang="en-US" sz="900" dirty="0"/>
              <a:t>、</a:t>
            </a:r>
            <a:r>
              <a:rPr lang="en-US" altLang="zh-CN" sz="900" dirty="0"/>
              <a:t>name</a:t>
            </a:r>
            <a:r>
              <a:rPr lang="zh-CN" altLang="en-US" sz="900" dirty="0"/>
              <a:t>、</a:t>
            </a:r>
            <a:r>
              <a:rPr lang="en-US" altLang="zh-CN" sz="900" dirty="0"/>
              <a:t>age</a:t>
            </a:r>
            <a:r>
              <a:rPr lang="zh-CN" altLang="en-US" sz="900" dirty="0"/>
              <a:t>）。</a:t>
            </a:r>
          </a:p>
          <a:p>
            <a:r>
              <a:rPr lang="zh-CN" altLang="en-US" sz="900" b="1" dirty="0"/>
              <a:t>底层实现</a:t>
            </a:r>
            <a:r>
              <a:rPr lang="zh-CN" altLang="en-US" sz="900" dirty="0"/>
              <a:t>：</a:t>
            </a:r>
          </a:p>
          <a:p>
            <a:pPr lvl="1"/>
            <a:r>
              <a:rPr lang="zh-CN" altLang="en-US" sz="900" dirty="0"/>
              <a:t>字段少且值小时：采用 </a:t>
            </a:r>
            <a:r>
              <a:rPr lang="en-US" altLang="zh-CN" sz="900" dirty="0" err="1"/>
              <a:t>ziplist</a:t>
            </a:r>
            <a:r>
              <a:rPr lang="zh-CN" altLang="en-US" sz="900" dirty="0"/>
              <a:t> 编码（压缩列表，连续内存存储，节省空间）。</a:t>
            </a:r>
          </a:p>
          <a:p>
            <a:pPr lvl="1"/>
            <a:r>
              <a:rPr lang="zh-CN" altLang="en-US" sz="900" dirty="0"/>
              <a:t>字段多或值大时：转为 </a:t>
            </a:r>
            <a:r>
              <a:rPr lang="en-US" altLang="zh-CN" sz="900" dirty="0" err="1"/>
              <a:t>hashtable</a:t>
            </a:r>
            <a:r>
              <a:rPr lang="zh-CN" altLang="en-US" sz="900" dirty="0"/>
              <a:t> 编码（哈希表，支持 </a:t>
            </a:r>
            <a:r>
              <a:rPr lang="en-US" altLang="zh-CN" sz="900" dirty="0"/>
              <a:t>O (1) </a:t>
            </a:r>
            <a:r>
              <a:rPr lang="zh-CN" altLang="en-US" sz="900" dirty="0"/>
              <a:t>查找）。</a:t>
            </a:r>
          </a:p>
          <a:p>
            <a:r>
              <a:rPr lang="zh-CN" altLang="en-US" sz="900" b="1" dirty="0"/>
              <a:t>常用命令</a:t>
            </a:r>
            <a:r>
              <a:rPr lang="zh-CN" altLang="en-US" sz="900" dirty="0"/>
              <a:t>：</a:t>
            </a:r>
            <a:r>
              <a:rPr lang="en-US" altLang="zh-CN" sz="900" dirty="0"/>
              <a:t>HSET</a:t>
            </a:r>
            <a:r>
              <a:rPr lang="zh-CN" altLang="en-US" sz="900" dirty="0"/>
              <a:t>（设置字段）、</a:t>
            </a:r>
            <a:r>
              <a:rPr lang="en-US" altLang="zh-CN" sz="900" dirty="0"/>
              <a:t>HGET</a:t>
            </a:r>
            <a:r>
              <a:rPr lang="zh-CN" altLang="en-US" sz="900" dirty="0"/>
              <a:t>（获取字段）、</a:t>
            </a:r>
            <a:r>
              <a:rPr lang="en-US" altLang="zh-CN" sz="900" dirty="0"/>
              <a:t>HMGET</a:t>
            </a:r>
            <a:r>
              <a:rPr lang="zh-CN" altLang="en-US" sz="900" dirty="0"/>
              <a:t>（批量获取）、</a:t>
            </a:r>
            <a:r>
              <a:rPr lang="en-US" altLang="zh-CN" sz="900" dirty="0"/>
              <a:t>HDEL</a:t>
            </a:r>
            <a:r>
              <a:rPr lang="zh-CN" altLang="en-US" sz="900" dirty="0"/>
              <a:t>（删除字段）、</a:t>
            </a:r>
            <a:r>
              <a:rPr lang="en-US" altLang="zh-CN" sz="900" dirty="0"/>
              <a:t>HGETALL</a:t>
            </a:r>
            <a:r>
              <a:rPr lang="zh-CN" altLang="en-US" sz="900" dirty="0"/>
              <a:t>（获取所有字段和值）等。</a:t>
            </a:r>
          </a:p>
          <a:p>
            <a:r>
              <a:rPr lang="zh-CN" altLang="en-US" sz="900" b="1" dirty="0"/>
              <a:t>适用场景</a:t>
            </a:r>
            <a:r>
              <a:rPr lang="zh-CN" altLang="en-US" sz="900" dirty="0"/>
              <a:t>：存储对象型数据（如用户资料、商品属性），避免 </a:t>
            </a:r>
            <a:r>
              <a:rPr lang="en-US" altLang="zh-CN" sz="900" dirty="0"/>
              <a:t>String </a:t>
            </a:r>
            <a:r>
              <a:rPr lang="zh-CN" altLang="en-US" sz="900" dirty="0"/>
              <a:t>类型的序列化 </a:t>
            </a:r>
            <a:r>
              <a:rPr lang="en-US" altLang="zh-CN" sz="900" dirty="0"/>
              <a:t>/ </a:t>
            </a:r>
            <a:r>
              <a:rPr lang="zh-CN" altLang="en-US" sz="900" dirty="0"/>
              <a:t>反序列化开销。</a:t>
            </a:r>
          </a:p>
          <a:p>
            <a:r>
              <a:rPr lang="en-US" altLang="zh-CN" sz="900" b="1" dirty="0"/>
              <a:t>3. List</a:t>
            </a:r>
            <a:r>
              <a:rPr lang="zh-CN" altLang="en-US" sz="900" b="1" dirty="0"/>
              <a:t>（列表）</a:t>
            </a:r>
          </a:p>
          <a:p>
            <a:r>
              <a:rPr lang="zh-CN" altLang="en-US" sz="900" b="1" dirty="0"/>
              <a:t>简介</a:t>
            </a:r>
            <a:r>
              <a:rPr lang="zh-CN" altLang="en-US" sz="900" dirty="0"/>
              <a:t>：有序、可重复的元素集合，支持两端插入 </a:t>
            </a:r>
            <a:r>
              <a:rPr lang="en-US" altLang="zh-CN" sz="900" dirty="0"/>
              <a:t>/ </a:t>
            </a:r>
            <a:r>
              <a:rPr lang="zh-CN" altLang="en-US" sz="900" dirty="0"/>
              <a:t>删除，类似 “双端队列”（</a:t>
            </a:r>
            <a:r>
              <a:rPr lang="en-US" altLang="zh-CN" sz="900" dirty="0"/>
              <a:t>Deque</a:t>
            </a:r>
            <a:r>
              <a:rPr lang="zh-CN" altLang="en-US" sz="900" dirty="0"/>
              <a:t>）。</a:t>
            </a:r>
          </a:p>
          <a:p>
            <a:r>
              <a:rPr lang="zh-CN" altLang="en-US" sz="900" b="1" dirty="0"/>
              <a:t>底层实现</a:t>
            </a:r>
            <a:r>
              <a:rPr lang="zh-CN" altLang="en-US" sz="900" dirty="0"/>
              <a:t>：</a:t>
            </a:r>
          </a:p>
          <a:p>
            <a:pPr lvl="1"/>
            <a:r>
              <a:rPr lang="zh-CN" altLang="en-US" sz="900" dirty="0"/>
              <a:t>元素少且小：</a:t>
            </a:r>
            <a:r>
              <a:rPr lang="en-US" altLang="zh-CN" sz="900" dirty="0" err="1"/>
              <a:t>ziplist</a:t>
            </a:r>
            <a:r>
              <a:rPr lang="zh-CN" altLang="en-US" sz="900" dirty="0"/>
              <a:t> 编码（压缩列表）。</a:t>
            </a:r>
          </a:p>
          <a:p>
            <a:pPr lvl="1"/>
            <a:r>
              <a:rPr lang="zh-CN" altLang="en-US" sz="900" dirty="0"/>
              <a:t>元素多或大：转为 </a:t>
            </a:r>
            <a:r>
              <a:rPr lang="en-US" altLang="zh-CN" sz="900" dirty="0" err="1"/>
              <a:t>linkedlist</a:t>
            </a:r>
            <a:r>
              <a:rPr lang="zh-CN" altLang="en-US" sz="900" dirty="0"/>
              <a:t> 编码（双向链表，节点存储指针，支持高效首尾操作）。</a:t>
            </a:r>
          </a:p>
          <a:p>
            <a:pPr lvl="1"/>
            <a:r>
              <a:rPr lang="en-US" altLang="zh-CN" sz="900" dirty="0"/>
              <a:t>Redis 3.2+ </a:t>
            </a:r>
            <a:r>
              <a:rPr lang="zh-CN" altLang="en-US" sz="900" dirty="0"/>
              <a:t>后统一为 </a:t>
            </a:r>
            <a:r>
              <a:rPr lang="en-US" altLang="zh-CN" sz="900" dirty="0" err="1"/>
              <a:t>quicklist</a:t>
            </a:r>
            <a:r>
              <a:rPr lang="zh-CN" altLang="en-US" sz="900" dirty="0"/>
              <a:t>（</a:t>
            </a:r>
            <a:r>
              <a:rPr lang="en-US" altLang="zh-CN" sz="900" dirty="0" err="1"/>
              <a:t>ziplist</a:t>
            </a:r>
            <a:r>
              <a:rPr lang="en-US" altLang="zh-CN" sz="900" dirty="0"/>
              <a:t> </a:t>
            </a:r>
            <a:r>
              <a:rPr lang="zh-CN" altLang="en-US" sz="900" dirty="0"/>
              <a:t>组成的双向链表，平衡空间和性能）。</a:t>
            </a:r>
          </a:p>
          <a:p>
            <a:r>
              <a:rPr lang="zh-CN" altLang="en-US" sz="900" b="1" dirty="0"/>
              <a:t>常用命令</a:t>
            </a:r>
            <a:r>
              <a:rPr lang="zh-CN" altLang="en-US" sz="900" dirty="0"/>
              <a:t>：</a:t>
            </a:r>
            <a:r>
              <a:rPr lang="en-US" altLang="zh-CN" sz="900" dirty="0"/>
              <a:t>LPUSH</a:t>
            </a:r>
            <a:r>
              <a:rPr lang="zh-CN" altLang="en-US" sz="900" dirty="0"/>
              <a:t>（左插）、</a:t>
            </a:r>
            <a:r>
              <a:rPr lang="en-US" altLang="zh-CN" sz="900" dirty="0"/>
              <a:t>RPUSH</a:t>
            </a:r>
            <a:r>
              <a:rPr lang="zh-CN" altLang="en-US" sz="900" dirty="0"/>
              <a:t>（右插）、</a:t>
            </a:r>
            <a:r>
              <a:rPr lang="en-US" altLang="zh-CN" sz="900" dirty="0"/>
              <a:t>LPOP</a:t>
            </a:r>
            <a:r>
              <a:rPr lang="zh-CN" altLang="en-US" sz="900" dirty="0"/>
              <a:t>（左删）、</a:t>
            </a:r>
            <a:r>
              <a:rPr lang="en-US" altLang="zh-CN" sz="900" dirty="0"/>
              <a:t>RPOP</a:t>
            </a:r>
            <a:r>
              <a:rPr lang="zh-CN" altLang="en-US" sz="900" dirty="0"/>
              <a:t>（右删）、</a:t>
            </a:r>
            <a:r>
              <a:rPr lang="en-US" altLang="zh-CN" sz="900" dirty="0"/>
              <a:t>LRANGE</a:t>
            </a:r>
            <a:r>
              <a:rPr lang="zh-CN" altLang="en-US" sz="900" dirty="0"/>
              <a:t>（获取范围元素）等。</a:t>
            </a:r>
          </a:p>
          <a:p>
            <a:r>
              <a:rPr lang="zh-CN" altLang="en-US" sz="900" b="1" dirty="0"/>
              <a:t>适用场景</a:t>
            </a:r>
            <a:r>
              <a:rPr lang="zh-CN" altLang="en-US" sz="900" dirty="0"/>
              <a:t>：消息队列（如简单的 </a:t>
            </a:r>
            <a:r>
              <a:rPr lang="en-US" altLang="zh-CN" sz="900" dirty="0"/>
              <a:t>FIFO </a:t>
            </a:r>
            <a:r>
              <a:rPr lang="zh-CN" altLang="en-US" sz="900" dirty="0"/>
              <a:t>队列）、最新列表（如朋友圈动态）、分页查询等。</a:t>
            </a:r>
          </a:p>
          <a:p>
            <a:r>
              <a:rPr lang="en-US" altLang="zh-CN" sz="900" b="1" dirty="0"/>
              <a:t>4. Set</a:t>
            </a:r>
            <a:r>
              <a:rPr lang="zh-CN" altLang="en-US" sz="900" b="1" dirty="0"/>
              <a:t>（集合）</a:t>
            </a:r>
          </a:p>
          <a:p>
            <a:r>
              <a:rPr lang="zh-CN" altLang="en-US" sz="900" b="1" dirty="0"/>
              <a:t>简介</a:t>
            </a:r>
            <a:r>
              <a:rPr lang="zh-CN" altLang="en-US" sz="900" dirty="0"/>
              <a:t>：无序、不可重复的元素集合，支持交集、并集、差集等集合运算。</a:t>
            </a:r>
          </a:p>
          <a:p>
            <a:r>
              <a:rPr lang="zh-CN" altLang="en-US" sz="900" b="1" dirty="0"/>
              <a:t>底层实现</a:t>
            </a:r>
            <a:r>
              <a:rPr lang="zh-CN" altLang="en-US" sz="900" dirty="0"/>
              <a:t>：</a:t>
            </a:r>
          </a:p>
          <a:p>
            <a:pPr lvl="1"/>
            <a:r>
              <a:rPr lang="zh-CN" altLang="en-US" sz="900" dirty="0"/>
              <a:t>元素为整数且数量少时：</a:t>
            </a:r>
            <a:r>
              <a:rPr lang="en-US" altLang="zh-CN" sz="900" dirty="0" err="1"/>
              <a:t>intset</a:t>
            </a:r>
            <a:r>
              <a:rPr lang="zh-CN" altLang="en-US" sz="900" dirty="0"/>
              <a:t> 编码（整数集合，连续内存存储，节省空间）。</a:t>
            </a:r>
          </a:p>
          <a:p>
            <a:pPr lvl="1"/>
            <a:r>
              <a:rPr lang="zh-CN" altLang="en-US" sz="900" dirty="0"/>
              <a:t>其他情况：</a:t>
            </a:r>
            <a:r>
              <a:rPr lang="en-US" altLang="zh-CN" sz="900" dirty="0" err="1"/>
              <a:t>hashtable</a:t>
            </a:r>
            <a:r>
              <a:rPr lang="zh-CN" altLang="en-US" sz="900" dirty="0"/>
              <a:t> 编码（哈希表，用键存储元素，值为 </a:t>
            </a:r>
            <a:r>
              <a:rPr lang="en-US" altLang="zh-CN" sz="900" dirty="0"/>
              <a:t>null</a:t>
            </a:r>
            <a:r>
              <a:rPr lang="zh-CN" altLang="en-US" sz="900" dirty="0"/>
              <a:t>，利用哈希表去重特性）。</a:t>
            </a:r>
          </a:p>
          <a:p>
            <a:r>
              <a:rPr lang="zh-CN" altLang="en-US" sz="900" b="1" dirty="0"/>
              <a:t>常用命令</a:t>
            </a:r>
            <a:r>
              <a:rPr lang="zh-CN" altLang="en-US" sz="900" dirty="0"/>
              <a:t>：</a:t>
            </a:r>
            <a:r>
              <a:rPr lang="en-US" altLang="zh-CN" sz="900" dirty="0"/>
              <a:t>SADD</a:t>
            </a:r>
            <a:r>
              <a:rPr lang="zh-CN" altLang="en-US" sz="900" dirty="0"/>
              <a:t>（添加元素）、</a:t>
            </a:r>
            <a:r>
              <a:rPr lang="en-US" altLang="zh-CN" sz="900" dirty="0"/>
              <a:t>SREM</a:t>
            </a:r>
            <a:r>
              <a:rPr lang="zh-CN" altLang="en-US" sz="900" dirty="0"/>
              <a:t>（删除元素）、</a:t>
            </a:r>
            <a:r>
              <a:rPr lang="en-US" altLang="zh-CN" sz="900" dirty="0"/>
              <a:t>SMEMBERS</a:t>
            </a:r>
            <a:r>
              <a:rPr lang="zh-CN" altLang="en-US" sz="900" dirty="0"/>
              <a:t>（获取所有元素）、</a:t>
            </a:r>
            <a:r>
              <a:rPr lang="en-US" altLang="zh-CN" sz="900" dirty="0"/>
              <a:t>SINTER</a:t>
            </a:r>
            <a:r>
              <a:rPr lang="zh-CN" altLang="en-US" sz="900" dirty="0"/>
              <a:t>（交集）、</a:t>
            </a:r>
            <a:r>
              <a:rPr lang="en-US" altLang="zh-CN" sz="900" dirty="0"/>
              <a:t>SUNION</a:t>
            </a:r>
            <a:r>
              <a:rPr lang="zh-CN" altLang="en-US" sz="900" dirty="0"/>
              <a:t>（并集）、</a:t>
            </a:r>
            <a:r>
              <a:rPr lang="en-US" altLang="zh-CN" sz="900" dirty="0"/>
              <a:t>SISMEMBER</a:t>
            </a:r>
            <a:r>
              <a:rPr lang="zh-CN" altLang="en-US" sz="900" dirty="0"/>
              <a:t>（判断是否存在）等。</a:t>
            </a:r>
          </a:p>
          <a:p>
            <a:r>
              <a:rPr lang="zh-CN" altLang="en-US" sz="900" b="1" dirty="0"/>
              <a:t>适用场景</a:t>
            </a:r>
            <a:r>
              <a:rPr lang="zh-CN" altLang="en-US" sz="900" dirty="0"/>
              <a:t>：去重（如用户标签去重）、共同好友（交集）、好友推荐（差集）等。</a:t>
            </a:r>
          </a:p>
          <a:p>
            <a:r>
              <a:rPr lang="en-US" altLang="zh-CN" sz="900" b="1" dirty="0"/>
              <a:t>5. Sorted Set</a:t>
            </a:r>
            <a:r>
              <a:rPr lang="zh-CN" altLang="en-US" sz="900" b="1" dirty="0"/>
              <a:t>（有序集合，</a:t>
            </a:r>
            <a:r>
              <a:rPr lang="en-US" altLang="zh-CN" sz="900" b="1" dirty="0" err="1"/>
              <a:t>ZSet</a:t>
            </a:r>
            <a:r>
              <a:rPr lang="zh-CN" altLang="en-US" sz="900" b="1" dirty="0"/>
              <a:t>）</a:t>
            </a:r>
          </a:p>
          <a:p>
            <a:r>
              <a:rPr lang="zh-CN" altLang="en-US" sz="900" b="1" dirty="0"/>
              <a:t>简介</a:t>
            </a:r>
            <a:r>
              <a:rPr lang="zh-CN" altLang="en-US" sz="900" dirty="0"/>
              <a:t>：类似 </a:t>
            </a:r>
            <a:r>
              <a:rPr lang="en-US" altLang="zh-CN" sz="900" dirty="0"/>
              <a:t>Set</a:t>
            </a:r>
            <a:r>
              <a:rPr lang="zh-CN" altLang="en-US" sz="900" dirty="0"/>
              <a:t>，但每个元素关联一个 “分数（</a:t>
            </a:r>
            <a:r>
              <a:rPr lang="en-US" altLang="zh-CN" sz="900" dirty="0"/>
              <a:t>score</a:t>
            </a:r>
            <a:r>
              <a:rPr lang="zh-CN" altLang="en-US" sz="900" dirty="0"/>
              <a:t>）”，按分数排序（可重复分数，不可重复元素）。</a:t>
            </a:r>
          </a:p>
          <a:p>
            <a:r>
              <a:rPr lang="zh-CN" altLang="en-US" sz="900" b="1" dirty="0"/>
              <a:t>底层实现</a:t>
            </a:r>
            <a:r>
              <a:rPr lang="zh-CN" altLang="en-US" sz="900" dirty="0"/>
              <a:t>：</a:t>
            </a:r>
          </a:p>
          <a:p>
            <a:pPr lvl="1"/>
            <a:r>
              <a:rPr lang="zh-CN" altLang="en-US" sz="900" dirty="0"/>
              <a:t>元素少且小时：</a:t>
            </a:r>
            <a:r>
              <a:rPr lang="en-US" altLang="zh-CN" sz="900" dirty="0" err="1"/>
              <a:t>ziplist</a:t>
            </a:r>
            <a:r>
              <a:rPr lang="zh-CN" altLang="en-US" sz="900" dirty="0"/>
              <a:t> 编码（压缩列表，按分数排序存储）。</a:t>
            </a:r>
          </a:p>
          <a:p>
            <a:pPr lvl="1"/>
            <a:r>
              <a:rPr lang="zh-CN" altLang="en-US" sz="900" dirty="0"/>
              <a:t>元素多或大时：</a:t>
            </a:r>
            <a:r>
              <a:rPr lang="en-US" altLang="zh-CN" sz="900" dirty="0" err="1"/>
              <a:t>skiplist</a:t>
            </a:r>
            <a:r>
              <a:rPr lang="zh-CN" altLang="en-US" sz="900" dirty="0"/>
              <a:t> </a:t>
            </a:r>
            <a:r>
              <a:rPr lang="en-US" altLang="zh-CN" sz="900" dirty="0"/>
              <a:t>+ </a:t>
            </a:r>
            <a:r>
              <a:rPr lang="en-US" altLang="zh-CN" sz="900" dirty="0" err="1"/>
              <a:t>hashtable</a:t>
            </a:r>
            <a:r>
              <a:rPr lang="zh-CN" altLang="en-US" sz="900" dirty="0"/>
              <a:t>（跳跃表存储排序关系，哈希表快速查找元素分数）。</a:t>
            </a:r>
          </a:p>
          <a:p>
            <a:r>
              <a:rPr lang="zh-CN" altLang="en-US" sz="900" b="1" dirty="0"/>
              <a:t>常用命令</a:t>
            </a:r>
            <a:r>
              <a:rPr lang="zh-CN" altLang="en-US" sz="900" dirty="0"/>
              <a:t>：</a:t>
            </a:r>
            <a:r>
              <a:rPr lang="en-US" altLang="zh-CN" sz="900" dirty="0"/>
              <a:t>ZADD</a:t>
            </a:r>
            <a:r>
              <a:rPr lang="zh-CN" altLang="en-US" sz="900" dirty="0"/>
              <a:t>（添加元素及分数）、</a:t>
            </a:r>
            <a:r>
              <a:rPr lang="en-US" altLang="zh-CN" sz="900" dirty="0"/>
              <a:t>ZRANGE</a:t>
            </a:r>
            <a:r>
              <a:rPr lang="zh-CN" altLang="en-US" sz="900" dirty="0"/>
              <a:t>（按分数升序取元素）、</a:t>
            </a:r>
            <a:r>
              <a:rPr lang="en-US" altLang="zh-CN" sz="900" dirty="0"/>
              <a:t>ZREVRANGE</a:t>
            </a:r>
            <a:r>
              <a:rPr lang="zh-CN" altLang="en-US" sz="900" dirty="0"/>
              <a:t>（降序）、</a:t>
            </a:r>
            <a:r>
              <a:rPr lang="en-US" altLang="zh-CN" sz="900" dirty="0"/>
              <a:t>ZINCRBY</a:t>
            </a:r>
            <a:r>
              <a:rPr lang="zh-CN" altLang="en-US" sz="900" dirty="0"/>
              <a:t>（增减分数）、</a:t>
            </a:r>
            <a:r>
              <a:rPr lang="en-US" altLang="zh-CN" sz="900" dirty="0"/>
              <a:t>ZSCORE</a:t>
            </a:r>
            <a:r>
              <a:rPr lang="zh-CN" altLang="en-US" sz="900" dirty="0"/>
              <a:t>（获取分数）等。</a:t>
            </a:r>
          </a:p>
          <a:p>
            <a:r>
              <a:rPr lang="zh-CN" altLang="en-US" sz="900" b="1" dirty="0"/>
              <a:t>适用场景</a:t>
            </a:r>
            <a:r>
              <a:rPr lang="zh-CN" altLang="en-US" sz="900" dirty="0"/>
              <a:t>：排行榜（如游戏积分排名）、带权重的消息队列、范围查询（如查询分数 </a:t>
            </a:r>
            <a:r>
              <a:rPr lang="en-US" altLang="zh-CN" sz="900" dirty="0"/>
              <a:t>80-100 </a:t>
            </a:r>
            <a:r>
              <a:rPr lang="zh-CN" altLang="en-US" sz="900" dirty="0"/>
              <a:t>的用户）等。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20" end="2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21" end="2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22" end="2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xEl>
                                              <p:pRg st="23" end="2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
                                            <p:txEl>
                                              <p:pRg st="24" end="24"/>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
                                            <p:txEl>
                                              <p:pRg st="25" end="25"/>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
                                            <p:txEl>
                                              <p:pRg st="26" end="26"/>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6">
                                            <p:txEl>
                                              <p:pRg st="27" end="27"/>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6">
                                            <p:txEl>
                                              <p:pRg st="28" end="28"/>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6">
                                            <p:txEl>
                                              <p:pRg st="29" end="29"/>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6">
                                            <p:txEl>
                                              <p:pRg st="30" end="30"/>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6">
                                            <p:txEl>
                                              <p:pRg st="31" end="31"/>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6">
                                            <p:txEl>
                                              <p:pRg st="32" end="32"/>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6">
                                            <p:txEl>
                                              <p:pRg st="33" end="33"/>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6">
                                            <p:txEl>
                                              <p:pRg st="34" end="34"/>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6">
                                            <p:txEl>
                                              <p:pRg st="35" end="3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A910E1B-A293-E82B-F163-CDDBC712A87A}"/>
              </a:ext>
            </a:extLst>
          </p:cNvPr>
          <p:cNvSpPr>
            <a:spLocks noGrp="1"/>
          </p:cNvSpPr>
          <p:nvPr>
            <p:ph type="body" sz="quarter" idx="11"/>
          </p:nvPr>
        </p:nvSpPr>
        <p:spPr/>
        <p:txBody>
          <a:bodyPr/>
          <a:lstStyle/>
          <a:p>
            <a:endParaRPr lang="zh-CN" altLang="en-US" dirty="0"/>
          </a:p>
        </p:txBody>
      </p:sp>
      <p:sp>
        <p:nvSpPr>
          <p:cNvPr id="3" name="标题 2">
            <a:extLst>
              <a:ext uri="{FF2B5EF4-FFF2-40B4-BE49-F238E27FC236}">
                <a16:creationId xmlns:a16="http://schemas.microsoft.com/office/drawing/2014/main" id="{38671988-B0B0-4E01-5EAF-D28A61EA3311}"/>
              </a:ext>
            </a:extLst>
          </p:cNvPr>
          <p:cNvSpPr>
            <a:spLocks noGrp="1"/>
          </p:cNvSpPr>
          <p:nvPr>
            <p:ph type="title"/>
          </p:nvPr>
        </p:nvSpPr>
        <p:spPr/>
        <p:txBody>
          <a:bodyPr/>
          <a:lstStyle/>
          <a:p>
            <a:r>
              <a:rPr lang="zh-CN" altLang="en-US" dirty="0"/>
              <a:t>你在</a:t>
            </a:r>
            <a:r>
              <a:rPr lang="en-US" altLang="zh-CN" dirty="0" err="1"/>
              <a:t>redis</a:t>
            </a:r>
            <a:r>
              <a:rPr lang="zh-CN" altLang="en-US" dirty="0"/>
              <a:t>中用得到</a:t>
            </a:r>
            <a:r>
              <a:rPr lang="en-US" altLang="zh-CN" dirty="0"/>
              <a:t>string</a:t>
            </a:r>
            <a:r>
              <a:rPr lang="zh-CN" altLang="en-US" dirty="0"/>
              <a:t>类型和</a:t>
            </a:r>
            <a:r>
              <a:rPr lang="en-US" altLang="zh-CN" dirty="0"/>
              <a:t>hash</a:t>
            </a:r>
            <a:r>
              <a:rPr lang="zh-CN" altLang="en-US" dirty="0"/>
              <a:t>类似时怎么选择</a:t>
            </a:r>
          </a:p>
        </p:txBody>
      </p:sp>
      <p:pic>
        <p:nvPicPr>
          <p:cNvPr id="8" name="图片 7">
            <a:extLst>
              <a:ext uri="{FF2B5EF4-FFF2-40B4-BE49-F238E27FC236}">
                <a16:creationId xmlns:a16="http://schemas.microsoft.com/office/drawing/2014/main" id="{DBCBE29C-3E7F-8D1A-1D9F-50861A03C148}"/>
              </a:ext>
            </a:extLst>
          </p:cNvPr>
          <p:cNvPicPr>
            <a:picLocks noChangeAspect="1"/>
          </p:cNvPicPr>
          <p:nvPr/>
        </p:nvPicPr>
        <p:blipFill>
          <a:blip r:embed="rId2"/>
          <a:stretch>
            <a:fillRect/>
          </a:stretch>
        </p:blipFill>
        <p:spPr>
          <a:xfrm>
            <a:off x="649357" y="944217"/>
            <a:ext cx="7779026" cy="4545495"/>
          </a:xfrm>
          <a:prstGeom prst="rect">
            <a:avLst/>
          </a:prstGeom>
        </p:spPr>
      </p:pic>
    </p:spTree>
    <p:extLst>
      <p:ext uri="{BB962C8B-B14F-4D97-AF65-F5344CB8AC3E}">
        <p14:creationId xmlns:p14="http://schemas.microsoft.com/office/powerpoint/2010/main" val="3250863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a:solidFill>
                  <a:schemeClr val="tx1">
                    <a:lumMod val="65000"/>
                    <a:lumOff val="35000"/>
                  </a:schemeClr>
                </a:solidFill>
                <a:latin typeface="华文楷体" panose="02010600040101010101" charset="-122"/>
                <a:ea typeface="华文楷体" panose="02010600040101010101" charset="-122"/>
                <a:cs typeface="华文楷体" panose="02010600040101010101" charset="-122"/>
                <a:sym typeface="+mn-ea"/>
              </a:rPr>
              <a:t>HyperLogLogs（基数统计）</a:t>
            </a:r>
            <a:endParaRPr kumimoji="1" dirty="0"/>
          </a:p>
        </p:txBody>
      </p:sp>
      <p:sp>
        <p:nvSpPr>
          <p:cNvPr id="6" name="文本框 5"/>
          <p:cNvSpPr txBox="1"/>
          <p:nvPr/>
        </p:nvSpPr>
        <p:spPr>
          <a:xfrm>
            <a:off x="365125" y="1541145"/>
            <a:ext cx="11040110" cy="4645660"/>
          </a:xfrm>
          <a:prstGeom prst="rect">
            <a:avLst/>
          </a:prstGeom>
          <a:noFill/>
        </p:spPr>
        <p:txBody>
          <a:bodyPr wrap="square">
            <a:noAutofit/>
          </a:bodyPr>
          <a:lstStyle/>
          <a:p>
            <a:pPr fontAlgn="auto">
              <a:lnSpc>
                <a:spcPct val="120000"/>
              </a:lnSpc>
              <a:spcBef>
                <a:spcPts val="0"/>
              </a:spcBef>
              <a:spcAft>
                <a:spcPts val="0"/>
              </a:spcAft>
            </a:pPr>
            <a:r>
              <a:rPr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什么是基数</a:t>
            </a: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t>
            </a:r>
          </a:p>
          <a:p>
            <a:pPr fontAlgn="auto">
              <a:lnSpc>
                <a:spcPct val="12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举个例子，A = {1, 2, 3, 4, 5}， B = {3, 5, 6, 7, 9}；那么基数（不重复的元素）= 1, 2, 4, 6, 7, 9； （允许容错，即可以接受一定误差）</a:t>
            </a:r>
          </a:p>
          <a:p>
            <a:pPr fontAlgn="auto">
              <a:lnSpc>
                <a:spcPct val="12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20000"/>
              </a:lnSpc>
              <a:spcBef>
                <a:spcPts val="0"/>
              </a:spcBef>
              <a:spcAft>
                <a:spcPts val="0"/>
              </a:spcAft>
            </a:pPr>
            <a:r>
              <a:rPr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HyperLogLogs 基数统计用来解决什么问题？</a:t>
            </a: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2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这个结构可以非常省内存的去统计各种计数，比如注册 IP 数、每日访问 IP 数的页面实时UV、在线用户数，共同好友数等。</a:t>
            </a:r>
          </a:p>
          <a:p>
            <a:pPr fontAlgn="auto">
              <a:lnSpc>
                <a:spcPct val="12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2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HyperLogLog算法一开始就是为了大数据量的统计而发明的，所以很适合那种数据量很大，然后又没要求不能有一点误差的计算，HyperLogLog 提供不精确的去重计数方案，虽然不精确但是也不是非常不精确，标准误差是 0.81%，不过这对于页面用户访问量是没影响的，因为这种统计可能是访问量非常巨大，但是又没必要做到绝对准确，访问量对准确率要求没那么高，但是性能存储方面要求就比较高了，而HyperLogLog正好符合这种要求，不会占用太多存储空间，同时性能不错</a:t>
            </a:r>
          </a:p>
          <a:p>
            <a:pPr fontAlgn="auto">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a:solidFill>
                  <a:schemeClr val="tx1">
                    <a:lumMod val="65000"/>
                    <a:lumOff val="35000"/>
                  </a:schemeClr>
                </a:solidFill>
                <a:latin typeface="华文楷体" panose="02010600040101010101" charset="-122"/>
                <a:ea typeface="华文楷体" panose="02010600040101010101" charset="-122"/>
                <a:cs typeface="华文楷体" panose="02010600040101010101" charset="-122"/>
                <a:sym typeface="+mn-ea"/>
              </a:rPr>
              <a:t>Bitmap（位图）</a:t>
            </a:r>
            <a:endParaRPr kumimoji="1" dirty="0"/>
          </a:p>
        </p:txBody>
      </p:sp>
      <p:sp>
        <p:nvSpPr>
          <p:cNvPr id="6" name="文本框 5"/>
          <p:cNvSpPr txBox="1"/>
          <p:nvPr/>
        </p:nvSpPr>
        <p:spPr>
          <a:xfrm>
            <a:off x="365125" y="1541145"/>
            <a:ext cx="11040110" cy="4081145"/>
          </a:xfrm>
          <a:prstGeom prst="rect">
            <a:avLst/>
          </a:prstGeom>
          <a:noFill/>
        </p:spPr>
        <p:txBody>
          <a:bodyPr wrap="square">
            <a:noAutofit/>
          </a:bodyPr>
          <a:lstStyle/>
          <a:p>
            <a:pPr fontAlgn="auto">
              <a:lnSpc>
                <a:spcPct val="12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Bitmap（位图）是一种用二进制位来表示集合中元素的方法。它把每个元素用一个二进制位表示，如果元素在集合中，则对应位为 1，否则为 0。由于每个二进制位只占用 1 bit 的空间，因此在记录大量元素时可以节省很多空间。</a:t>
            </a:r>
          </a:p>
          <a:p>
            <a:pPr fontAlgn="auto">
              <a:lnSpc>
                <a:spcPct val="12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20000"/>
              </a:lnSpc>
              <a:spcBef>
                <a:spcPts val="0"/>
              </a:spcBef>
              <a:spcAft>
                <a:spcPts val="0"/>
              </a:spcAft>
            </a:pPr>
            <a:r>
              <a:rPr lang="zh-CN"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用于</a:t>
            </a:r>
            <a:r>
              <a:rPr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场景</a:t>
            </a:r>
            <a:r>
              <a:rPr lang="zh-CN"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t>
            </a:r>
            <a:endParaRPr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2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2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统计用户信息，活跃、不活跃！登录、未登录！打卡、未打卡！</a:t>
            </a:r>
          </a:p>
          <a:p>
            <a:pPr fontAlgn="auto">
              <a:lnSpc>
                <a:spcPct val="120000"/>
              </a:lnSpc>
              <a:spcBef>
                <a:spcPts val="0"/>
              </a:spcBef>
              <a:spcAft>
                <a:spcPts val="0"/>
              </a:spcAft>
            </a:pPr>
            <a:r>
              <a:rPr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两个状态</a:t>
            </a: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的，都可以使用BitMap。</a:t>
            </a:r>
          </a:p>
          <a:p>
            <a:pPr fontAlgn="auto">
              <a:lnSpc>
                <a:spcPct val="12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2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可以实现高效的海量数据统计，同时也能够节省存储空间，非常适合于日常数据分析。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a:solidFill>
                  <a:schemeClr val="tx1">
                    <a:lumMod val="65000"/>
                    <a:lumOff val="35000"/>
                  </a:schemeClr>
                </a:solidFill>
                <a:latin typeface="华文楷体" panose="02010600040101010101" charset="-122"/>
                <a:ea typeface="华文楷体" panose="02010600040101010101" charset="-122"/>
                <a:cs typeface="华文楷体" panose="02010600040101010101" charset="-122"/>
                <a:sym typeface="+mn-ea"/>
              </a:rPr>
              <a:t>geospatial （地理位置）</a:t>
            </a:r>
          </a:p>
        </p:txBody>
      </p:sp>
      <p:sp>
        <p:nvSpPr>
          <p:cNvPr id="6" name="文本框 5"/>
          <p:cNvSpPr txBox="1"/>
          <p:nvPr/>
        </p:nvSpPr>
        <p:spPr>
          <a:xfrm>
            <a:off x="365125" y="1541145"/>
            <a:ext cx="11040110" cy="4081145"/>
          </a:xfrm>
          <a:prstGeom prst="rect">
            <a:avLst/>
          </a:prstGeom>
          <a:noFill/>
        </p:spPr>
        <p:txBody>
          <a:bodyPr wrap="square">
            <a:noAutofit/>
          </a:bodyPr>
          <a:lstStyle/>
          <a:p>
            <a:pPr fontAlgn="auto">
              <a:lnSpc>
                <a:spcPct val="12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redis 3.2版本推出的，推算地理位置的信息，两地之间的距离，周围方圆的人等等场景都可以用它实现。</a:t>
            </a:r>
          </a:p>
          <a:p>
            <a:pPr fontAlgn="auto">
              <a:lnSpc>
                <a:spcPct val="12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2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geoadd 将指定的地理空间位置(纬度、经度、名称)添加到指定的key中</a:t>
            </a:r>
          </a:p>
          <a:p>
            <a:pPr fontAlgn="auto">
              <a:lnSpc>
                <a:spcPct val="12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2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geodist 返回两个给定位置之间的距离。</a:t>
            </a:r>
          </a:p>
          <a:p>
            <a:pPr fontAlgn="auto">
              <a:lnSpc>
                <a:spcPct val="120000"/>
              </a:lnSpc>
              <a:spcBef>
                <a:spcPts val="0"/>
              </a:spcBef>
              <a:spcAft>
                <a:spcPts val="0"/>
              </a:spcAft>
            </a:pPr>
            <a:r>
              <a:rPr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geodist china:city suzhou shanghai km</a:t>
            </a:r>
          </a:p>
          <a:p>
            <a:pPr fontAlgn="auto">
              <a:lnSpc>
                <a:spcPct val="12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2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georadius 以给定的经纬度为中心， 返回键包含的位置元素当中， 与中心的距离不超过给定最大距离的所有位置元素</a:t>
            </a:r>
          </a:p>
          <a:p>
            <a:pPr fontAlgn="auto">
              <a:lnSpc>
                <a:spcPct val="120000"/>
              </a:lnSpc>
              <a:spcBef>
                <a:spcPts val="0"/>
              </a:spcBef>
              <a:spcAft>
                <a:spcPts val="0"/>
              </a:spcAft>
            </a:pPr>
            <a:r>
              <a:rPr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georadius china:city 121.49295 31.22337 30 km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说说Redis的持久化方式</a:t>
            </a:r>
          </a:p>
        </p:txBody>
      </p:sp>
      <p:pic>
        <p:nvPicPr>
          <p:cNvPr id="5" name="图片 4"/>
          <p:cNvPicPr>
            <a:picLocks noChangeAspect="1"/>
          </p:cNvPicPr>
          <p:nvPr/>
        </p:nvPicPr>
        <p:blipFill>
          <a:blip r:embed="rId2"/>
          <a:stretch>
            <a:fillRect/>
          </a:stretch>
        </p:blipFill>
        <p:spPr>
          <a:xfrm>
            <a:off x="467360" y="2593340"/>
            <a:ext cx="9096375" cy="3443605"/>
          </a:xfrm>
          <a:prstGeom prst="rect">
            <a:avLst/>
          </a:prstGeom>
        </p:spPr>
      </p:pic>
      <p:sp>
        <p:nvSpPr>
          <p:cNvPr id="7" name="文本框 6"/>
          <p:cNvSpPr txBox="1"/>
          <p:nvPr/>
        </p:nvSpPr>
        <p:spPr>
          <a:xfrm>
            <a:off x="416560" y="1517650"/>
            <a:ext cx="8340090" cy="816610"/>
          </a:xfrm>
          <a:prstGeom prst="rect">
            <a:avLst/>
          </a:prstGeom>
          <a:noFill/>
        </p:spPr>
        <p:txBody>
          <a:bodyPr>
            <a:noAutofit/>
          </a:bodyPr>
          <a:lstStyle/>
          <a:p>
            <a:pPr fontAlgn="auto">
              <a:lnSpc>
                <a:spcPct val="120000"/>
              </a:lnSpc>
              <a:spcBef>
                <a:spcPts val="0"/>
              </a:spcBef>
              <a:spcAft>
                <a:spcPts val="0"/>
              </a:spcAft>
            </a:pPr>
            <a:r>
              <a:rPr lang="en-US" altLang="zh-CN">
                <a:latin typeface="华文楷体" panose="02010600040101010101" charset="-122"/>
                <a:ea typeface="华文楷体" panose="02010600040101010101" charset="-122"/>
                <a:cs typeface="华文楷体" panose="02010600040101010101" charset="-122"/>
                <a:sym typeface="+mn-ea"/>
              </a:rPr>
              <a:t>RDB</a:t>
            </a:r>
            <a:r>
              <a:rPr lang="zh-CN" altLang="en-US">
                <a:latin typeface="华文楷体" panose="02010600040101010101" charset="-122"/>
                <a:ea typeface="华文楷体" panose="02010600040101010101" charset="-122"/>
                <a:cs typeface="华文楷体" panose="02010600040101010101" charset="-122"/>
                <a:sym typeface="+mn-ea"/>
              </a:rPr>
              <a:t>全称</a:t>
            </a:r>
            <a:r>
              <a:rPr lang="en-US" altLang="zh-CN">
                <a:latin typeface="华文楷体" panose="02010600040101010101" charset="-122"/>
                <a:ea typeface="华文楷体" panose="02010600040101010101" charset="-122"/>
                <a:cs typeface="华文楷体" panose="02010600040101010101" charset="-122"/>
                <a:sym typeface="+mn-ea"/>
              </a:rPr>
              <a:t>Redis Database Backup file</a:t>
            </a:r>
            <a:r>
              <a:rPr lang="zh-CN" altLang="en-US">
                <a:latin typeface="华文楷体" panose="02010600040101010101" charset="-122"/>
                <a:ea typeface="华文楷体" panose="02010600040101010101" charset="-122"/>
                <a:cs typeface="华文楷体" panose="02010600040101010101" charset="-122"/>
                <a:sym typeface="+mn-ea"/>
              </a:rPr>
              <a:t>（</a:t>
            </a:r>
            <a:r>
              <a:rPr lang="en-US" altLang="zh-CN">
                <a:latin typeface="华文楷体" panose="02010600040101010101" charset="-122"/>
                <a:ea typeface="华文楷体" panose="02010600040101010101" charset="-122"/>
                <a:cs typeface="华文楷体" panose="02010600040101010101" charset="-122"/>
                <a:sym typeface="+mn-ea"/>
              </a:rPr>
              <a:t>Redis</a:t>
            </a:r>
            <a:r>
              <a:rPr lang="zh-CN" altLang="en-US">
                <a:latin typeface="华文楷体" panose="02010600040101010101" charset="-122"/>
                <a:ea typeface="华文楷体" panose="02010600040101010101" charset="-122"/>
                <a:cs typeface="华文楷体" panose="02010600040101010101" charset="-122"/>
                <a:sym typeface="+mn-ea"/>
              </a:rPr>
              <a:t>数据备份文件）</a:t>
            </a:r>
          </a:p>
          <a:p>
            <a:pPr fontAlgn="auto">
              <a:lnSpc>
                <a:spcPct val="120000"/>
              </a:lnSpc>
              <a:spcBef>
                <a:spcPts val="0"/>
              </a:spcBef>
              <a:spcAft>
                <a:spcPts val="0"/>
              </a:spcAft>
            </a:pPr>
            <a:r>
              <a:rPr lang="en-US" altLang="zh-CN">
                <a:latin typeface="华文楷体" panose="02010600040101010101" charset="-122"/>
                <a:ea typeface="华文楷体" panose="02010600040101010101" charset="-122"/>
                <a:cs typeface="华文楷体" panose="02010600040101010101" charset="-122"/>
                <a:sym typeface="+mn-ea"/>
              </a:rPr>
              <a:t>AOF</a:t>
            </a:r>
            <a:r>
              <a:rPr lang="zh-CN" altLang="en-US">
                <a:latin typeface="华文楷体" panose="02010600040101010101" charset="-122"/>
                <a:ea typeface="华文楷体" panose="02010600040101010101" charset="-122"/>
                <a:cs typeface="华文楷体" panose="02010600040101010101" charset="-122"/>
                <a:sym typeface="+mn-ea"/>
              </a:rPr>
              <a:t>全称为</a:t>
            </a:r>
            <a:r>
              <a:rPr lang="en-US" altLang="zh-CN">
                <a:latin typeface="华文楷体" panose="02010600040101010101" charset="-122"/>
                <a:ea typeface="华文楷体" panose="02010600040101010101" charset="-122"/>
                <a:cs typeface="华文楷体" panose="02010600040101010101" charset="-122"/>
                <a:sym typeface="+mn-ea"/>
              </a:rPr>
              <a:t>Append Only File</a:t>
            </a:r>
            <a:r>
              <a:rPr lang="zh-CN" altLang="en-US">
                <a:latin typeface="华文楷体" panose="02010600040101010101" charset="-122"/>
                <a:ea typeface="华文楷体" panose="02010600040101010101" charset="-122"/>
                <a:cs typeface="华文楷体" panose="02010600040101010101" charset="-122"/>
                <a:sym typeface="+mn-ea"/>
              </a:rPr>
              <a:t>（追加文件）</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什么缓存穿透，怎么解决？</a:t>
            </a:r>
          </a:p>
        </p:txBody>
      </p:sp>
      <p:sp>
        <p:nvSpPr>
          <p:cNvPr id="6" name="文本框 5"/>
          <p:cNvSpPr txBox="1"/>
          <p:nvPr/>
        </p:nvSpPr>
        <p:spPr>
          <a:xfrm>
            <a:off x="421005" y="1828800"/>
            <a:ext cx="11040110" cy="3084195"/>
          </a:xfrm>
          <a:prstGeom prst="rect">
            <a:avLst/>
          </a:prstGeom>
          <a:noFill/>
        </p:spPr>
        <p:txBody>
          <a:bodyPr wrap="square">
            <a:noAutofit/>
          </a:bodyPr>
          <a:lstStyle/>
          <a:p>
            <a:pPr fontAlgn="auto">
              <a:spcBef>
                <a:spcPts val="0"/>
              </a:spcBef>
              <a:spcAft>
                <a:spcPts val="0"/>
              </a:spcAft>
            </a:pPr>
            <a:r>
              <a:rPr lang="zh-CN" altLang="en-US" b="1" dirty="0">
                <a:latin typeface="华文楷体" panose="02010600040101010101" charset="-122"/>
                <a:ea typeface="华文楷体" panose="02010600040101010101" charset="-122"/>
                <a:sym typeface="+mn-ea"/>
              </a:rPr>
              <a:t>缓存穿透：</a:t>
            </a:r>
            <a:r>
              <a:rPr lang="zh-CN" altLang="en-US" dirty="0">
                <a:latin typeface="华文楷体" panose="02010600040101010101" charset="-122"/>
                <a:ea typeface="华文楷体" panose="02010600040101010101" charset="-122"/>
                <a:sym typeface="+mn-ea"/>
              </a:rPr>
              <a:t>指客户端请求的数据在缓存中和数据库中都不存在，这样缓存永远不会生效，这些请求都会打到数据库</a:t>
            </a:r>
          </a:p>
          <a:p>
            <a:pPr fontAlgn="auto">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40000"/>
              </a:lnSpc>
              <a:spcBef>
                <a:spcPts val="0"/>
              </a:spcBef>
              <a:spcAft>
                <a:spcPts val="0"/>
              </a:spcAft>
            </a:pPr>
            <a:r>
              <a:rPr lang="zh-CN"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常见解决方案</a:t>
            </a:r>
            <a:r>
              <a:rPr 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t>
            </a:r>
          </a:p>
          <a:p>
            <a:pPr fontAlgn="auto">
              <a:lnSpc>
                <a:spcPct val="140000"/>
              </a:lnSpc>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a:t>
            </a:r>
            <a:r>
              <a:rPr lang="zh-CN" altLang="en-US" dirty="0">
                <a:latin typeface="华文楷体" panose="02010600040101010101" charset="-122"/>
                <a:ea typeface="华文楷体" panose="02010600040101010101" charset="-122"/>
                <a:cs typeface="华文楷体" panose="02010600040101010101" charset="-122"/>
                <a:sym typeface="+mn-ea"/>
              </a:rPr>
              <a:t>缓存空对象</a:t>
            </a:r>
          </a:p>
          <a:p>
            <a:pPr fontAlgn="auto">
              <a:lnSpc>
                <a:spcPct val="140000"/>
              </a:lnSpc>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2.</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布隆过滤器</a:t>
            </a:r>
          </a:p>
          <a:p>
            <a:pPr fontAlgn="auto">
              <a:lnSpc>
                <a:spcPct val="140000"/>
              </a:lnSpc>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3.</a:t>
            </a:r>
            <a:r>
              <a:rPr lang="zh-CN" altLang="en-US" dirty="0">
                <a:latin typeface="华文楷体" panose="02010600040101010101" charset="-122"/>
                <a:ea typeface="华文楷体" panose="02010600040101010101" charset="-122"/>
                <a:cs typeface="华文楷体" panose="02010600040101010101" charset="-122"/>
                <a:sym typeface="+mn-ea"/>
              </a:rPr>
              <a:t>做好数据的基础格式校验</a:t>
            </a:r>
          </a:p>
          <a:p>
            <a:pPr fontAlgn="auto">
              <a:lnSpc>
                <a:spcPct val="140000"/>
              </a:lnSpc>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4.</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做好权限校验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什么是缓存击穿，怎么解决？</a:t>
            </a:r>
          </a:p>
        </p:txBody>
      </p:sp>
      <p:sp>
        <p:nvSpPr>
          <p:cNvPr id="6" name="文本框 5"/>
          <p:cNvSpPr txBox="1"/>
          <p:nvPr/>
        </p:nvSpPr>
        <p:spPr>
          <a:xfrm>
            <a:off x="415290" y="1737360"/>
            <a:ext cx="11040110" cy="4307205"/>
          </a:xfrm>
          <a:prstGeom prst="rect">
            <a:avLst/>
          </a:prstGeom>
          <a:noFill/>
        </p:spPr>
        <p:txBody>
          <a:bodyPr wrap="square">
            <a:noAutofit/>
          </a:bodyPr>
          <a:lstStyle/>
          <a:p>
            <a:pPr fontAlgn="auto">
              <a:lnSpc>
                <a:spcPct val="130000"/>
              </a:lnSpc>
              <a:spcBef>
                <a:spcPts val="0"/>
              </a:spcBef>
              <a:spcAft>
                <a:spcPts val="0"/>
              </a:spcAft>
            </a:pPr>
            <a:r>
              <a:rPr lang="zh-CN" altLang="en-US" b="1">
                <a:latin typeface="华文楷体" panose="02010600040101010101" charset="-122"/>
                <a:ea typeface="华文楷体" panose="02010600040101010101" charset="-122"/>
                <a:cs typeface="华文楷体" panose="02010600040101010101" charset="-122"/>
                <a:sym typeface="+mn-ea"/>
              </a:rPr>
              <a:t>缓存击穿：</a:t>
            </a:r>
            <a:r>
              <a:rPr lang="zh-CN" altLang="en-US">
                <a:latin typeface="华文楷体" panose="02010600040101010101" charset="-122"/>
                <a:ea typeface="华文楷体" panose="02010600040101010101" charset="-122"/>
                <a:cs typeface="华文楷体" panose="02010600040101010101" charset="-122"/>
                <a:sym typeface="+mn-ea"/>
              </a:rPr>
              <a:t>也叫热点</a:t>
            </a:r>
            <a:r>
              <a:rPr lang="en-US" altLang="zh-CN">
                <a:latin typeface="华文楷体" panose="02010600040101010101" charset="-122"/>
                <a:ea typeface="华文楷体" panose="02010600040101010101" charset="-122"/>
                <a:cs typeface="华文楷体" panose="02010600040101010101" charset="-122"/>
                <a:sym typeface="+mn-ea"/>
              </a:rPr>
              <a:t>Key</a:t>
            </a:r>
            <a:r>
              <a:rPr lang="zh-CN" altLang="en-US">
                <a:latin typeface="华文楷体" panose="02010600040101010101" charset="-122"/>
                <a:ea typeface="华文楷体" panose="02010600040101010101" charset="-122"/>
                <a:cs typeface="华文楷体" panose="02010600040101010101" charset="-122"/>
                <a:sym typeface="+mn-ea"/>
              </a:rPr>
              <a:t>问题，就是一个被</a:t>
            </a:r>
            <a:r>
              <a:rPr lang="zh-CN" altLang="en-US" b="1">
                <a:latin typeface="华文楷体" panose="02010600040101010101" charset="-122"/>
                <a:ea typeface="华文楷体" panose="02010600040101010101" charset="-122"/>
                <a:cs typeface="华文楷体" panose="02010600040101010101" charset="-122"/>
                <a:sym typeface="+mn-ea"/>
              </a:rPr>
              <a:t>高并发访问</a:t>
            </a:r>
            <a:r>
              <a:rPr lang="zh-CN" altLang="en-US">
                <a:latin typeface="华文楷体" panose="02010600040101010101" charset="-122"/>
                <a:ea typeface="华文楷体" panose="02010600040101010101" charset="-122"/>
                <a:cs typeface="华文楷体" panose="02010600040101010101" charset="-122"/>
                <a:sym typeface="+mn-ea"/>
              </a:rPr>
              <a:t>并且</a:t>
            </a:r>
            <a:r>
              <a:rPr lang="zh-CN" altLang="en-US" b="1">
                <a:latin typeface="华文楷体" panose="02010600040101010101" charset="-122"/>
                <a:ea typeface="华文楷体" panose="02010600040101010101" charset="-122"/>
                <a:cs typeface="华文楷体" panose="02010600040101010101" charset="-122"/>
                <a:sym typeface="+mn-ea"/>
              </a:rPr>
              <a:t>缓存重建业务较复杂</a:t>
            </a:r>
            <a:r>
              <a:rPr lang="zh-CN" altLang="en-US">
                <a:latin typeface="华文楷体" panose="02010600040101010101" charset="-122"/>
                <a:ea typeface="华文楷体" panose="02010600040101010101" charset="-122"/>
                <a:cs typeface="华文楷体" panose="02010600040101010101" charset="-122"/>
                <a:sym typeface="+mn-ea"/>
              </a:rPr>
              <a:t>的</a:t>
            </a:r>
            <a:r>
              <a:rPr lang="en-US" altLang="zh-CN">
                <a:latin typeface="华文楷体" panose="02010600040101010101" charset="-122"/>
                <a:ea typeface="华文楷体" panose="02010600040101010101" charset="-122"/>
                <a:cs typeface="华文楷体" panose="02010600040101010101" charset="-122"/>
                <a:sym typeface="+mn-ea"/>
              </a:rPr>
              <a:t>key</a:t>
            </a:r>
            <a:r>
              <a:rPr lang="zh-CN" altLang="en-US">
                <a:latin typeface="华文楷体" panose="02010600040101010101" charset="-122"/>
                <a:ea typeface="华文楷体" panose="02010600040101010101" charset="-122"/>
                <a:cs typeface="华文楷体" panose="02010600040101010101" charset="-122"/>
                <a:sym typeface="+mn-ea"/>
              </a:rPr>
              <a:t>突然失效了，无数的请求访问会在瞬间给数据库带来巨大的冲击。</a:t>
            </a:r>
          </a:p>
          <a:p>
            <a:pPr fontAlgn="auto">
              <a:lnSpc>
                <a:spcPct val="13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30000"/>
              </a:lnSpc>
              <a:spcBef>
                <a:spcPts val="0"/>
              </a:spcBef>
              <a:spcAft>
                <a:spcPts val="0"/>
              </a:spcAft>
            </a:pPr>
            <a:r>
              <a:rPr lang="zh-CN"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常见解决方案：</a:t>
            </a:r>
          </a:p>
          <a:p>
            <a:pPr fontAlgn="auto">
              <a:lnSpc>
                <a:spcPct val="130000"/>
              </a:lnSpc>
              <a:spcBef>
                <a:spcPts val="0"/>
              </a:spcBef>
              <a:spcAft>
                <a:spcPts val="0"/>
              </a:spcAft>
            </a:pPr>
            <a:r>
              <a:rPr lang="en-US" altLang="zh-CN" b="1">
                <a:latin typeface="华文楷体" panose="02010600040101010101" charset="-122"/>
                <a:ea typeface="华文楷体" panose="02010600040101010101" charset="-122"/>
                <a:cs typeface="华文楷体" panose="02010600040101010101" charset="-122"/>
                <a:sym typeface="+mn-ea"/>
              </a:rPr>
              <a:t>使用加锁机制</a:t>
            </a:r>
            <a:r>
              <a:rPr lang="zh-CN" altLang="en-US" b="1">
                <a:latin typeface="华文楷体" panose="02010600040101010101" charset="-122"/>
                <a:ea typeface="华文楷体" panose="02010600040101010101" charset="-122"/>
                <a:cs typeface="华文楷体" panose="02010600040101010101" charset="-122"/>
                <a:sym typeface="+mn-ea"/>
              </a:rPr>
              <a:t>：</a:t>
            </a:r>
            <a:r>
              <a:rPr lang="en-US" altLang="zh-CN">
                <a:latin typeface="华文楷体" panose="02010600040101010101" charset="-122"/>
                <a:ea typeface="华文楷体" panose="02010600040101010101" charset="-122"/>
                <a:cs typeface="华文楷体" panose="02010600040101010101" charset="-122"/>
                <a:sym typeface="+mn-ea"/>
              </a:rPr>
              <a:t>在缓存失效时，通过加锁机制确保只有一个请求能够访问数据库并更新缓存。其他请求需要等待锁释放后才能访问缓存或数据库。</a:t>
            </a:r>
            <a:endParaRPr lang="en-US" altLang="zh-CN">
              <a:latin typeface="华文楷体" panose="02010600040101010101" charset="-122"/>
              <a:ea typeface="华文楷体" panose="02010600040101010101" charset="-122"/>
              <a:cs typeface="华文楷体" panose="02010600040101010101" charset="-122"/>
            </a:endParaRPr>
          </a:p>
          <a:p>
            <a:pPr marL="0" indent="0">
              <a:lnSpc>
                <a:spcPct val="130000"/>
              </a:lnSpc>
              <a:buNone/>
            </a:pPr>
            <a:r>
              <a:rPr lang="en-US" altLang="zh-CN" b="1">
                <a:latin typeface="华文楷体" panose="02010600040101010101" charset="-122"/>
                <a:ea typeface="华文楷体" panose="02010600040101010101" charset="-122"/>
                <a:cs typeface="华文楷体" panose="02010600040101010101" charset="-122"/>
                <a:sym typeface="+mn-ea"/>
              </a:rPr>
              <a:t>设置热点数据永不过期</a:t>
            </a:r>
            <a:r>
              <a:rPr lang="zh-CN" altLang="en-US" b="1">
                <a:latin typeface="华文楷体" panose="02010600040101010101" charset="-122"/>
                <a:ea typeface="华文楷体" panose="02010600040101010101" charset="-122"/>
                <a:cs typeface="华文楷体" panose="02010600040101010101" charset="-122"/>
                <a:sym typeface="+mn-ea"/>
              </a:rPr>
              <a:t>：</a:t>
            </a:r>
            <a:r>
              <a:rPr lang="en-US" altLang="zh-CN">
                <a:latin typeface="华文楷体" panose="02010600040101010101" charset="-122"/>
                <a:ea typeface="华文楷体" panose="02010600040101010101" charset="-122"/>
                <a:cs typeface="华文楷体" panose="02010600040101010101" charset="-122"/>
                <a:sym typeface="+mn-ea"/>
              </a:rPr>
              <a:t>对于访问频率高的热点数据，可以设置它们在缓存中永不过期，或者设置一个非常长的过期时间，以避免缓存击穿问题。</a:t>
            </a:r>
            <a:endParaRPr lang="en-US" altLang="zh-CN">
              <a:latin typeface="华文楷体" panose="02010600040101010101" charset="-122"/>
              <a:ea typeface="华文楷体" panose="02010600040101010101" charset="-122"/>
              <a:cs typeface="华文楷体" panose="02010600040101010101" charset="-122"/>
            </a:endParaRPr>
          </a:p>
          <a:p>
            <a:pPr marL="0" indent="0">
              <a:lnSpc>
                <a:spcPct val="130000"/>
              </a:lnSpc>
              <a:buNone/>
            </a:pPr>
            <a:r>
              <a:rPr lang="en-US" altLang="zh-CN" b="1">
                <a:latin typeface="华文楷体" panose="02010600040101010101" charset="-122"/>
                <a:ea typeface="华文楷体" panose="02010600040101010101" charset="-122"/>
                <a:cs typeface="华文楷体" panose="02010600040101010101" charset="-122"/>
                <a:sym typeface="+mn-ea"/>
              </a:rPr>
              <a:t>多级缓存机制</a:t>
            </a:r>
            <a:r>
              <a:rPr lang="zh-CN" altLang="en-US" b="1">
                <a:latin typeface="华文楷体" panose="02010600040101010101" charset="-122"/>
                <a:ea typeface="华文楷体" panose="02010600040101010101" charset="-122"/>
                <a:cs typeface="华文楷体" panose="02010600040101010101" charset="-122"/>
                <a:sym typeface="+mn-ea"/>
              </a:rPr>
              <a:t>：</a:t>
            </a:r>
            <a:r>
              <a:rPr lang="en-US" altLang="zh-CN">
                <a:latin typeface="华文楷体" panose="02010600040101010101" charset="-122"/>
                <a:ea typeface="华文楷体" panose="02010600040101010101" charset="-122"/>
                <a:cs typeface="华文楷体" panose="02010600040101010101" charset="-122"/>
                <a:sym typeface="+mn-ea"/>
              </a:rPr>
              <a:t>采用主缓存和二级缓存的组合，当主缓存失效时，可以从二级缓存中获取数据，减少对数据库的直接访问。</a:t>
            </a:r>
            <a:endParaRPr lang="en-US" altLang="zh-CN">
              <a:latin typeface="华文楷体" panose="02010600040101010101" charset="-122"/>
              <a:ea typeface="华文楷体" panose="02010600040101010101" charset="-122"/>
              <a:cs typeface="华文楷体" panose="02010600040101010101" charset="-122"/>
            </a:endParaRPr>
          </a:p>
          <a:p>
            <a:pPr marL="0" indent="0">
              <a:lnSpc>
                <a:spcPct val="130000"/>
              </a:lnSpc>
              <a:buNone/>
            </a:pPr>
            <a:r>
              <a:rPr lang="en-US" altLang="zh-CN" b="1">
                <a:latin typeface="华文楷体" panose="02010600040101010101" charset="-122"/>
                <a:ea typeface="华文楷体" panose="02010600040101010101" charset="-122"/>
                <a:cs typeface="华文楷体" panose="02010600040101010101" charset="-122"/>
                <a:sym typeface="+mn-ea"/>
              </a:rPr>
              <a:t>定时更新缓存</a:t>
            </a:r>
            <a:r>
              <a:rPr lang="zh-CN" altLang="en-US" b="1">
                <a:latin typeface="华文楷体" panose="02010600040101010101" charset="-122"/>
                <a:ea typeface="华文楷体" panose="02010600040101010101" charset="-122"/>
                <a:cs typeface="华文楷体" panose="02010600040101010101" charset="-122"/>
                <a:sym typeface="+mn-ea"/>
              </a:rPr>
              <a:t>：</a:t>
            </a:r>
            <a:r>
              <a:rPr lang="en-US" altLang="zh-CN">
                <a:latin typeface="华文楷体" panose="02010600040101010101" charset="-122"/>
                <a:ea typeface="华文楷体" panose="02010600040101010101" charset="-122"/>
                <a:cs typeface="华文楷体" panose="02010600040101010101" charset="-122"/>
                <a:sym typeface="+mn-ea"/>
              </a:rPr>
              <a:t>对于热点数据，可以设置定时任务定期从数据库中更新数据到缓存中，保持数据的最新。</a:t>
            </a:r>
            <a:endParaRPr lang="en-US" altLang="zh-CN">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什么是缓存雪崩，怎么解决？</a:t>
            </a:r>
          </a:p>
        </p:txBody>
      </p:sp>
      <p:sp>
        <p:nvSpPr>
          <p:cNvPr id="6" name="文本框 5"/>
          <p:cNvSpPr txBox="1"/>
          <p:nvPr/>
        </p:nvSpPr>
        <p:spPr>
          <a:xfrm>
            <a:off x="365125" y="1737360"/>
            <a:ext cx="11040110" cy="3200400"/>
          </a:xfrm>
          <a:prstGeom prst="rect">
            <a:avLst/>
          </a:prstGeom>
          <a:noFill/>
        </p:spPr>
        <p:txBody>
          <a:bodyPr wrap="square">
            <a:noAutofit/>
          </a:bodyPr>
          <a:lstStyle/>
          <a:p>
            <a:pPr fontAlgn="auto">
              <a:spcBef>
                <a:spcPts val="0"/>
              </a:spcBef>
              <a:spcAft>
                <a:spcPts val="0"/>
              </a:spcAft>
            </a:pPr>
            <a:r>
              <a:rPr lang="zh-CN" altLang="en-US" b="1">
                <a:latin typeface="华文楷体" panose="02010600040101010101" charset="-122"/>
                <a:ea typeface="华文楷体" panose="02010600040101010101" charset="-122"/>
                <a:cs typeface="华文楷体" panose="02010600040101010101" charset="-122"/>
                <a:sym typeface="+mn-ea"/>
              </a:rPr>
              <a:t>缓存雪崩</a:t>
            </a:r>
            <a:r>
              <a:rPr lang="zh-CN" altLang="en-US">
                <a:latin typeface="华文楷体" panose="02010600040101010101" charset="-122"/>
                <a:ea typeface="华文楷体" panose="02010600040101010101" charset="-122"/>
                <a:cs typeface="华文楷体" panose="02010600040101010101" charset="-122"/>
                <a:sym typeface="+mn-ea"/>
              </a:rPr>
              <a:t>是指在同一时段大量的缓存</a:t>
            </a:r>
            <a:r>
              <a:rPr lang="en-US" altLang="zh-CN">
                <a:latin typeface="华文楷体" panose="02010600040101010101" charset="-122"/>
                <a:ea typeface="华文楷体" panose="02010600040101010101" charset="-122"/>
                <a:cs typeface="华文楷体" panose="02010600040101010101" charset="-122"/>
                <a:sym typeface="+mn-ea"/>
              </a:rPr>
              <a:t>key</a:t>
            </a:r>
            <a:r>
              <a:rPr lang="zh-CN" altLang="en-US">
                <a:latin typeface="华文楷体" panose="02010600040101010101" charset="-122"/>
                <a:ea typeface="华文楷体" panose="02010600040101010101" charset="-122"/>
                <a:cs typeface="华文楷体" panose="02010600040101010101" charset="-122"/>
                <a:sym typeface="+mn-ea"/>
              </a:rPr>
              <a:t>同时失效或者</a:t>
            </a:r>
            <a:r>
              <a:rPr lang="en-US" altLang="zh-CN">
                <a:latin typeface="华文楷体" panose="02010600040101010101" charset="-122"/>
                <a:ea typeface="华文楷体" panose="02010600040101010101" charset="-122"/>
                <a:cs typeface="华文楷体" panose="02010600040101010101" charset="-122"/>
                <a:sym typeface="+mn-ea"/>
              </a:rPr>
              <a:t>Redis</a:t>
            </a:r>
            <a:r>
              <a:rPr lang="zh-CN" altLang="en-US">
                <a:latin typeface="华文楷体" panose="02010600040101010101" charset="-122"/>
                <a:ea typeface="华文楷体" panose="02010600040101010101" charset="-122"/>
                <a:cs typeface="华文楷体" panose="02010600040101010101" charset="-122"/>
                <a:sym typeface="+mn-ea"/>
              </a:rPr>
              <a:t>服务宕机，导致大量请求到达数据库，带来巨大压力。</a:t>
            </a:r>
          </a:p>
          <a:p>
            <a:pPr fontAlgn="auto">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40000"/>
              </a:lnSpc>
              <a:spcBef>
                <a:spcPts val="0"/>
              </a:spcBef>
              <a:spcAft>
                <a:spcPts val="0"/>
              </a:spcAft>
            </a:pPr>
            <a:r>
              <a:rPr lang="zh-CN" altLang="en-US" b="1">
                <a:latin typeface="华文楷体" panose="02010600040101010101" charset="-122"/>
                <a:ea typeface="华文楷体" panose="02010600040101010101" charset="-122"/>
                <a:cs typeface="华文楷体" panose="02010600040101010101" charset="-122"/>
                <a:sym typeface="+mn-ea"/>
              </a:rPr>
              <a:t>解决方案：</a:t>
            </a:r>
            <a:endParaRPr lang="en-US" altLang="zh-CN" b="1">
              <a:latin typeface="华文楷体" panose="02010600040101010101" charset="-122"/>
              <a:ea typeface="华文楷体" panose="02010600040101010101" charset="-122"/>
              <a:cs typeface="华文楷体" panose="02010600040101010101" charset="-122"/>
            </a:endParaRPr>
          </a:p>
          <a:p>
            <a:pPr indent="0">
              <a:lnSpc>
                <a:spcPct val="140000"/>
              </a:lnSpc>
              <a:buFont typeface="Wingdings" panose="05000000000000000000" pitchFamily="2" charset="2"/>
              <a:buNone/>
            </a:pPr>
            <a:r>
              <a:rPr lang="zh-CN" altLang="en-US">
                <a:latin typeface="华文楷体" panose="02010600040101010101" charset="-122"/>
                <a:ea typeface="华文楷体" panose="02010600040101010101" charset="-122"/>
                <a:cs typeface="华文楷体" panose="02010600040101010101" charset="-122"/>
                <a:sym typeface="+mn-ea"/>
              </a:rPr>
              <a:t>给不同的</a:t>
            </a:r>
            <a:r>
              <a:rPr lang="en-US" altLang="zh-CN">
                <a:latin typeface="华文楷体" panose="02010600040101010101" charset="-122"/>
                <a:ea typeface="华文楷体" panose="02010600040101010101" charset="-122"/>
                <a:cs typeface="华文楷体" panose="02010600040101010101" charset="-122"/>
                <a:sym typeface="+mn-ea"/>
              </a:rPr>
              <a:t>Key</a:t>
            </a:r>
            <a:r>
              <a:rPr lang="zh-CN" altLang="en-US">
                <a:latin typeface="华文楷体" panose="02010600040101010101" charset="-122"/>
                <a:ea typeface="华文楷体" panose="02010600040101010101" charset="-122"/>
                <a:cs typeface="华文楷体" panose="02010600040101010101" charset="-122"/>
                <a:sym typeface="+mn-ea"/>
              </a:rPr>
              <a:t>的</a:t>
            </a:r>
            <a:r>
              <a:rPr lang="en-US" altLang="zh-CN">
                <a:latin typeface="华文楷体" panose="02010600040101010101" charset="-122"/>
                <a:ea typeface="华文楷体" panose="02010600040101010101" charset="-122"/>
                <a:cs typeface="华文楷体" panose="02010600040101010101" charset="-122"/>
                <a:sym typeface="+mn-ea"/>
              </a:rPr>
              <a:t>TTL</a:t>
            </a:r>
            <a:r>
              <a:rPr lang="zh-CN" altLang="en-US">
                <a:latin typeface="华文楷体" panose="02010600040101010101" charset="-122"/>
                <a:ea typeface="华文楷体" panose="02010600040101010101" charset="-122"/>
                <a:cs typeface="华文楷体" panose="02010600040101010101" charset="-122"/>
                <a:sym typeface="+mn-ea"/>
              </a:rPr>
              <a:t>添加随机值</a:t>
            </a:r>
            <a:endParaRPr lang="en-US" altLang="zh-CN">
              <a:latin typeface="华文楷体" panose="02010600040101010101" charset="-122"/>
              <a:ea typeface="华文楷体" panose="02010600040101010101" charset="-122"/>
              <a:cs typeface="华文楷体" panose="02010600040101010101" charset="-122"/>
            </a:endParaRPr>
          </a:p>
          <a:p>
            <a:pPr indent="0">
              <a:lnSpc>
                <a:spcPct val="140000"/>
              </a:lnSpc>
              <a:buFont typeface="Wingdings" panose="05000000000000000000" pitchFamily="2" charset="2"/>
              <a:buNone/>
            </a:pPr>
            <a:r>
              <a:rPr lang="zh-CN" altLang="en-US">
                <a:latin typeface="华文楷体" panose="02010600040101010101" charset="-122"/>
                <a:ea typeface="华文楷体" panose="02010600040101010101" charset="-122"/>
                <a:cs typeface="华文楷体" panose="02010600040101010101" charset="-122"/>
                <a:sym typeface="+mn-ea"/>
              </a:rPr>
              <a:t>给缓存业务添加降级限流策略</a:t>
            </a:r>
            <a:endParaRPr lang="en-US" altLang="zh-CN">
              <a:latin typeface="华文楷体" panose="02010600040101010101" charset="-122"/>
              <a:ea typeface="华文楷体" panose="02010600040101010101" charset="-122"/>
              <a:cs typeface="华文楷体" panose="02010600040101010101" charset="-122"/>
            </a:endParaRPr>
          </a:p>
          <a:p>
            <a:pPr indent="0">
              <a:lnSpc>
                <a:spcPct val="140000"/>
              </a:lnSpc>
              <a:buFont typeface="Wingdings" panose="05000000000000000000" pitchFamily="2" charset="2"/>
              <a:buNone/>
            </a:pPr>
            <a:r>
              <a:rPr lang="zh-CN" altLang="en-US">
                <a:latin typeface="华文楷体" panose="02010600040101010101" charset="-122"/>
                <a:ea typeface="华文楷体" panose="02010600040101010101" charset="-122"/>
                <a:cs typeface="华文楷体" panose="02010600040101010101" charset="-122"/>
                <a:sym typeface="+mn-ea"/>
              </a:rPr>
              <a:t>给业务添加多级缓存</a:t>
            </a:r>
            <a:endParaRPr lang="en-US" altLang="zh-CN">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Redis怎么保证和数据库的双写一致性？</a:t>
            </a:r>
          </a:p>
        </p:txBody>
      </p:sp>
      <p:sp>
        <p:nvSpPr>
          <p:cNvPr id="6" name="文本框 5"/>
          <p:cNvSpPr txBox="1"/>
          <p:nvPr/>
        </p:nvSpPr>
        <p:spPr>
          <a:xfrm>
            <a:off x="431165" y="1793240"/>
            <a:ext cx="11040110" cy="3200400"/>
          </a:xfrm>
          <a:prstGeom prst="rect">
            <a:avLst/>
          </a:prstGeom>
          <a:noFill/>
        </p:spPr>
        <p:txBody>
          <a:bodyPr wrap="square">
            <a:noAutofit/>
          </a:bodyPr>
          <a:lstStyle/>
          <a:p>
            <a:pPr marL="0" indent="0">
              <a:buNone/>
            </a:pPr>
            <a:r>
              <a:rPr lang="zh-CN" altLang="en-US" b="1">
                <a:latin typeface="华文楷体" panose="02010600040101010101" charset="-122"/>
                <a:ea typeface="华文楷体" panose="02010600040101010101" charset="-122"/>
                <a:cs typeface="华文楷体" panose="02010600040101010101" charset="-122"/>
                <a:sym typeface="+mn-ea"/>
              </a:rPr>
              <a:t>双写一致：</a:t>
            </a:r>
            <a:r>
              <a:rPr lang="zh-CN" altLang="en-US">
                <a:latin typeface="华文楷体" panose="02010600040101010101" charset="-122"/>
                <a:ea typeface="华文楷体" panose="02010600040101010101" charset="-122"/>
                <a:cs typeface="华文楷体" panose="02010600040101010101" charset="-122"/>
                <a:sym typeface="+mn-ea"/>
              </a:rPr>
              <a:t>指的是当数据库数据发生变化的时候，需要同时保证</a:t>
            </a:r>
            <a:r>
              <a:rPr lang="en-US" altLang="zh-CN">
                <a:latin typeface="华文楷体" panose="02010600040101010101" charset="-122"/>
                <a:ea typeface="华文楷体" panose="02010600040101010101" charset="-122"/>
                <a:cs typeface="华文楷体" panose="02010600040101010101" charset="-122"/>
                <a:sym typeface="+mn-ea"/>
              </a:rPr>
              <a:t>Redis</a:t>
            </a:r>
            <a:r>
              <a:rPr lang="zh-CN" altLang="en-US">
                <a:latin typeface="华文楷体" panose="02010600040101010101" charset="-122"/>
                <a:ea typeface="华文楷体" panose="02010600040101010101" charset="-122"/>
                <a:cs typeface="华文楷体" panose="02010600040101010101" charset="-122"/>
                <a:sym typeface="+mn-ea"/>
              </a:rPr>
              <a:t>也能跟着变化，以此保证数据一致性</a:t>
            </a:r>
          </a:p>
          <a:p>
            <a:pPr marL="0" indent="0">
              <a:buNone/>
            </a:pPr>
            <a:endParaRPr lang="zh-CN" altLang="en-US">
              <a:latin typeface="华文楷体" panose="02010600040101010101" charset="-122"/>
              <a:ea typeface="华文楷体" panose="02010600040101010101" charset="-122"/>
              <a:cs typeface="华文楷体" panose="02010600040101010101" charset="-122"/>
              <a:sym typeface="+mn-ea"/>
            </a:endParaRPr>
          </a:p>
          <a:p>
            <a:pPr marL="0" indent="0">
              <a:buNone/>
            </a:pPr>
            <a:r>
              <a:rPr lang="zh-CN" altLang="en-US" b="1">
                <a:latin typeface="华文楷体" panose="02010600040101010101" charset="-122"/>
                <a:ea typeface="华文楷体" panose="02010600040101010101" charset="-122"/>
                <a:cs typeface="华文楷体" panose="02010600040101010101" charset="-122"/>
                <a:sym typeface="+mn-ea"/>
              </a:rPr>
              <a:t>双写一致性解决方案：</a:t>
            </a:r>
            <a:endParaRPr lang="en-US" altLang="zh-CN" b="1">
              <a:latin typeface="华文楷体" panose="02010600040101010101" charset="-122"/>
              <a:ea typeface="华文楷体" panose="02010600040101010101" charset="-122"/>
              <a:cs typeface="华文楷体" panose="02010600040101010101" charset="-122"/>
            </a:endParaRPr>
          </a:p>
          <a:p>
            <a:pPr>
              <a:lnSpc>
                <a:spcPct val="150000"/>
              </a:lnSpc>
            </a:pPr>
            <a:r>
              <a:rPr lang="zh-CN" altLang="en-US" b="1">
                <a:latin typeface="华文楷体" panose="02010600040101010101" charset="-122"/>
                <a:ea typeface="华文楷体" panose="02010600040101010101" charset="-122"/>
                <a:cs typeface="华文楷体" panose="02010600040101010101" charset="-122"/>
                <a:sym typeface="+mn-ea"/>
              </a:rPr>
              <a:t>低一致性需求</a:t>
            </a:r>
            <a:r>
              <a:rPr lang="zh-CN" altLang="en-US">
                <a:latin typeface="华文楷体" panose="02010600040101010101" charset="-122"/>
                <a:ea typeface="华文楷体" panose="02010600040101010101" charset="-122"/>
                <a:cs typeface="华文楷体" panose="02010600040101010101" charset="-122"/>
                <a:sym typeface="+mn-ea"/>
              </a:rPr>
              <a:t>：最终一致即可（绝大部分业务场景）</a:t>
            </a:r>
            <a:endParaRPr lang="en-US" altLang="zh-CN">
              <a:latin typeface="华文楷体" panose="02010600040101010101" charset="-122"/>
              <a:ea typeface="华文楷体" panose="02010600040101010101" charset="-122"/>
              <a:cs typeface="华文楷体" panose="02010600040101010101" charset="-122"/>
            </a:endParaRPr>
          </a:p>
          <a:p>
            <a:pPr>
              <a:lnSpc>
                <a:spcPct val="150000"/>
              </a:lnSpc>
            </a:pPr>
            <a:r>
              <a:rPr lang="zh-CN" altLang="en-US" b="1">
                <a:latin typeface="华文楷体" panose="02010600040101010101" charset="-122"/>
                <a:ea typeface="华文楷体" panose="02010600040101010101" charset="-122"/>
                <a:cs typeface="华文楷体" panose="02010600040101010101" charset="-122"/>
                <a:sym typeface="+mn-ea"/>
              </a:rPr>
              <a:t>高一致性需求</a:t>
            </a:r>
            <a:r>
              <a:rPr lang="zh-CN" altLang="en-US">
                <a:latin typeface="华文楷体" panose="02010600040101010101" charset="-122"/>
                <a:ea typeface="华文楷体" panose="02010600040101010101" charset="-122"/>
                <a:cs typeface="华文楷体" panose="02010600040101010101" charset="-122"/>
                <a:sym typeface="+mn-ea"/>
              </a:rPr>
              <a:t>：</a:t>
            </a:r>
            <a:endParaRPr lang="en-US" altLang="zh-CN">
              <a:latin typeface="华文楷体" panose="02010600040101010101" charset="-122"/>
              <a:ea typeface="华文楷体" panose="02010600040101010101" charset="-122"/>
              <a:cs typeface="华文楷体" panose="02010600040101010101" charset="-122"/>
            </a:endParaRPr>
          </a:p>
          <a:p>
            <a:pPr marL="895350" lvl="1" indent="-285750">
              <a:lnSpc>
                <a:spcPct val="150000"/>
              </a:lnSpc>
              <a:buFont typeface="Wingdings" panose="05000000000000000000" pitchFamily="2" charset="2"/>
              <a:buChar char="u"/>
            </a:pPr>
            <a:r>
              <a:rPr lang="zh-CN" altLang="en-US">
                <a:latin typeface="华文楷体" panose="02010600040101010101" charset="-122"/>
                <a:ea typeface="华文楷体" panose="02010600040101010101" charset="-122"/>
                <a:cs typeface="华文楷体" panose="02010600040101010101" charset="-122"/>
                <a:sym typeface="+mn-ea"/>
              </a:rPr>
              <a:t>主动更新，并以超时剔除作为兜底方案</a:t>
            </a:r>
            <a:endParaRPr lang="zh-CN" altLang="en-US" b="0">
              <a:latin typeface="华文楷体" panose="02010600040101010101" charset="-122"/>
              <a:ea typeface="华文楷体" panose="02010600040101010101" charset="-122"/>
              <a:cs typeface="华文楷体" panose="02010600040101010101" charset="-122"/>
            </a:endParaRPr>
          </a:p>
          <a:p>
            <a:pPr marL="895350" lvl="1" indent="-285750">
              <a:lnSpc>
                <a:spcPct val="150000"/>
              </a:lnSpc>
              <a:buFont typeface="Wingdings" panose="05000000000000000000" pitchFamily="2" charset="2"/>
              <a:buChar char="u"/>
            </a:pPr>
            <a:r>
              <a:rPr lang="zh-CN" altLang="en-US">
                <a:latin typeface="华文楷体" panose="02010600040101010101" charset="-122"/>
                <a:ea typeface="华文楷体" panose="02010600040101010101" charset="-122"/>
                <a:cs typeface="华文楷体" panose="02010600040101010101" charset="-122"/>
                <a:sym typeface="+mn-ea"/>
              </a:rPr>
              <a:t>通过</a:t>
            </a:r>
            <a:r>
              <a:rPr lang="en-US" altLang="zh-CN">
                <a:latin typeface="华文楷体" panose="02010600040101010101" charset="-122"/>
                <a:ea typeface="华文楷体" panose="02010600040101010101" charset="-122"/>
                <a:cs typeface="华文楷体" panose="02010600040101010101" charset="-122"/>
                <a:sym typeface="+mn-ea"/>
              </a:rPr>
              <a:t>MQ</a:t>
            </a:r>
            <a:r>
              <a:rPr lang="zh-CN" altLang="en-US">
                <a:latin typeface="华文楷体" panose="02010600040101010101" charset="-122"/>
                <a:ea typeface="华文楷体" panose="02010600040101010101" charset="-122"/>
                <a:cs typeface="华文楷体" panose="02010600040101010101" charset="-122"/>
                <a:sym typeface="+mn-ea"/>
              </a:rPr>
              <a:t>异步更新缓存</a:t>
            </a:r>
            <a:endParaRPr lang="zh-CN" altLang="en-US" b="0">
              <a:latin typeface="华文楷体" panose="02010600040101010101" charset="-122"/>
              <a:ea typeface="华文楷体" panose="02010600040101010101" charset="-122"/>
              <a:cs typeface="华文楷体" panose="02010600040101010101" charset="-122"/>
            </a:endParaRPr>
          </a:p>
          <a:p>
            <a:pPr marL="895350" lvl="1" indent="-285750">
              <a:lnSpc>
                <a:spcPct val="150000"/>
              </a:lnSpc>
              <a:buFont typeface="Wingdings" panose="05000000000000000000" pitchFamily="2" charset="2"/>
              <a:buChar char="u"/>
            </a:pPr>
            <a:r>
              <a:rPr lang="zh-CN" altLang="en-US">
                <a:latin typeface="华文楷体" panose="02010600040101010101" charset="-122"/>
                <a:ea typeface="华文楷体" panose="02010600040101010101" charset="-122"/>
                <a:cs typeface="华文楷体" panose="02010600040101010101" charset="-122"/>
                <a:sym typeface="+mn-ea"/>
              </a:rPr>
              <a:t>通过</a:t>
            </a:r>
            <a:r>
              <a:rPr lang="en-US" altLang="zh-CN">
                <a:latin typeface="华文楷体" panose="02010600040101010101" charset="-122"/>
                <a:ea typeface="华文楷体" panose="02010600040101010101" charset="-122"/>
                <a:cs typeface="华文楷体" panose="02010600040101010101" charset="-122"/>
                <a:sym typeface="+mn-ea"/>
              </a:rPr>
              <a:t>canal</a:t>
            </a:r>
            <a:r>
              <a:rPr lang="zh-CN" altLang="en-US">
                <a:latin typeface="华文楷体" panose="02010600040101010101" charset="-122"/>
                <a:ea typeface="华文楷体" panose="02010600040101010101" charset="-122"/>
                <a:cs typeface="华文楷体" panose="02010600040101010101" charset="-122"/>
                <a:sym typeface="+mn-ea"/>
              </a:rPr>
              <a:t>组件</a:t>
            </a: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Redis怎么保证高可用?</a:t>
            </a:r>
          </a:p>
        </p:txBody>
      </p:sp>
      <p:sp>
        <p:nvSpPr>
          <p:cNvPr id="6" name="文本框 5"/>
          <p:cNvSpPr txBox="1"/>
          <p:nvPr/>
        </p:nvSpPr>
        <p:spPr>
          <a:xfrm>
            <a:off x="403860" y="1828800"/>
            <a:ext cx="11040110" cy="1494155"/>
          </a:xfrm>
          <a:prstGeom prst="rect">
            <a:avLst/>
          </a:prstGeom>
          <a:noFill/>
        </p:spPr>
        <p:txBody>
          <a:bodyPr wrap="square">
            <a:noAutofit/>
          </a:bodyPr>
          <a:lstStyle/>
          <a:p>
            <a:pPr fontAlgn="auto">
              <a:lnSpc>
                <a:spcPct val="130000"/>
              </a:lnSpc>
              <a:spcBef>
                <a:spcPts val="0"/>
              </a:spcBef>
              <a:spcAft>
                <a:spcPts val="0"/>
              </a:spcAft>
            </a:pPr>
            <a:r>
              <a:rPr 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主从</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哨兵</a:t>
            </a:r>
          </a:p>
          <a:p>
            <a:pPr fontAlgn="auto">
              <a:lnSpc>
                <a:spcPct val="130000"/>
              </a:lnSpc>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2.</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分片集群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什么是Redis哨兵？有什么作用？</a:t>
            </a:r>
          </a:p>
        </p:txBody>
      </p:sp>
      <p:sp>
        <p:nvSpPr>
          <p:cNvPr id="6" name="文本框 5"/>
          <p:cNvSpPr txBox="1"/>
          <p:nvPr/>
        </p:nvSpPr>
        <p:spPr>
          <a:xfrm>
            <a:off x="365125" y="1828800"/>
            <a:ext cx="11040110" cy="3017520"/>
          </a:xfrm>
          <a:prstGeom prst="rect">
            <a:avLst/>
          </a:prstGeom>
          <a:noFill/>
        </p:spPr>
        <p:txBody>
          <a:bodyPr wrap="square">
            <a:noAutofit/>
          </a:bodyPr>
          <a:lstStyle/>
          <a:p>
            <a:pPr marL="285750" indent="-285750">
              <a:lnSpc>
                <a:spcPct val="150000"/>
              </a:lnSpc>
              <a:buFont typeface="Arial" panose="020B0604020202020204" pitchFamily="34" charset="0"/>
              <a:buChar char="•"/>
            </a:pPr>
            <a:endParaRPr lang="zh-CN" altLang="en-US" b="1">
              <a:latin typeface="华文楷体" panose="02010600040101010101" charset="-122"/>
              <a:ea typeface="华文楷体" panose="02010600040101010101" charset="-122"/>
              <a:cs typeface="华文楷体" panose="02010600040101010101" charset="-122"/>
              <a:sym typeface="+mn-ea"/>
            </a:endParaRPr>
          </a:p>
          <a:p>
            <a:pPr indent="0">
              <a:lnSpc>
                <a:spcPct val="150000"/>
              </a:lnSpc>
              <a:buFont typeface="Arial" panose="020B0604020202020204" pitchFamily="34" charset="0"/>
              <a:buNone/>
            </a:pPr>
            <a:r>
              <a:rPr lang="en-US" altLang="zh-CN">
                <a:latin typeface="华文楷体" panose="02010600040101010101" charset="-122"/>
                <a:ea typeface="华文楷体" panose="02010600040101010101" charset="-122"/>
                <a:cs typeface="华文楷体" panose="02010600040101010101" charset="-122"/>
                <a:sym typeface="+mn-ea"/>
              </a:rPr>
              <a:t>Redis</a:t>
            </a:r>
            <a:r>
              <a:rPr lang="zh-CN" altLang="en-US">
                <a:latin typeface="华文楷体" panose="02010600040101010101" charset="-122"/>
                <a:ea typeface="华文楷体" panose="02010600040101010101" charset="-122"/>
                <a:cs typeface="华文楷体" panose="02010600040101010101" charset="-122"/>
                <a:sym typeface="+mn-ea"/>
              </a:rPr>
              <a:t>提供了哨兵（</a:t>
            </a:r>
            <a:r>
              <a:rPr lang="en-US" altLang="zh-CN">
                <a:latin typeface="华文楷体" panose="02010600040101010101" charset="-122"/>
                <a:ea typeface="华文楷体" panose="02010600040101010101" charset="-122"/>
                <a:cs typeface="华文楷体" panose="02010600040101010101" charset="-122"/>
                <a:sym typeface="+mn-ea"/>
              </a:rPr>
              <a:t>Sentinel</a:t>
            </a:r>
            <a:r>
              <a:rPr lang="zh-CN" altLang="en-US">
                <a:latin typeface="华文楷体" panose="02010600040101010101" charset="-122"/>
                <a:ea typeface="华文楷体" panose="02010600040101010101" charset="-122"/>
                <a:cs typeface="华文楷体" panose="02010600040101010101" charset="-122"/>
                <a:sym typeface="+mn-ea"/>
              </a:rPr>
              <a:t>）机制来实现主从集群的自动故障恢复</a:t>
            </a:r>
          </a:p>
          <a:p>
            <a:pPr indent="0">
              <a:lnSpc>
                <a:spcPct val="150000"/>
              </a:lnSpc>
              <a:buFont typeface="Arial" panose="020B0604020202020204" pitchFamily="34" charset="0"/>
              <a:buNone/>
            </a:pPr>
            <a:endParaRPr lang="zh-CN" altLang="en-US" b="1">
              <a:latin typeface="华文楷体" panose="02010600040101010101" charset="-122"/>
              <a:ea typeface="华文楷体" panose="02010600040101010101" charset="-122"/>
              <a:cs typeface="华文楷体" panose="02010600040101010101" charset="-122"/>
              <a:sym typeface="+mn-ea"/>
            </a:endParaRPr>
          </a:p>
          <a:p>
            <a:pPr indent="0">
              <a:lnSpc>
                <a:spcPct val="150000"/>
              </a:lnSpc>
              <a:buFont typeface="Arial" panose="020B0604020202020204" pitchFamily="34" charset="0"/>
              <a:buNone/>
            </a:pPr>
            <a:r>
              <a:rPr lang="zh-CN" altLang="en-US" b="1">
                <a:latin typeface="华文楷体" panose="02010600040101010101" charset="-122"/>
                <a:ea typeface="华文楷体" panose="02010600040101010101" charset="-122"/>
                <a:cs typeface="华文楷体" panose="02010600040101010101" charset="-122"/>
                <a:sym typeface="+mn-ea"/>
              </a:rPr>
              <a:t>监控</a:t>
            </a:r>
            <a:r>
              <a:rPr lang="zh-CN" altLang="en-US">
                <a:latin typeface="华文楷体" panose="02010600040101010101" charset="-122"/>
                <a:ea typeface="华文楷体" panose="02010600040101010101" charset="-122"/>
                <a:cs typeface="华文楷体" panose="02010600040101010101" charset="-122"/>
                <a:sym typeface="+mn-ea"/>
              </a:rPr>
              <a:t>：</a:t>
            </a:r>
            <a:r>
              <a:rPr lang="en-US" altLang="zh-CN">
                <a:solidFill>
                  <a:srgbClr val="333333"/>
                </a:solidFill>
                <a:effectLst/>
                <a:latin typeface="华文楷体" panose="02010600040101010101" charset="-122"/>
                <a:ea typeface="华文楷体" panose="02010600040101010101" charset="-122"/>
                <a:cs typeface="华文楷体" panose="02010600040101010101" charset="-122"/>
                <a:sym typeface="+mn-ea"/>
              </a:rPr>
              <a:t>Sentinel </a:t>
            </a:r>
            <a:r>
              <a:rPr lang="zh-CN" altLang="en-US">
                <a:solidFill>
                  <a:srgbClr val="333333"/>
                </a:solidFill>
                <a:effectLst/>
                <a:latin typeface="华文楷体" panose="02010600040101010101" charset="-122"/>
                <a:ea typeface="华文楷体" panose="02010600040101010101" charset="-122"/>
                <a:cs typeface="华文楷体" panose="02010600040101010101" charset="-122"/>
                <a:sym typeface="+mn-ea"/>
              </a:rPr>
              <a:t>会不断检查您的</a:t>
            </a:r>
            <a:r>
              <a:rPr lang="en-US" altLang="zh-CN">
                <a:solidFill>
                  <a:srgbClr val="333333"/>
                </a:solidFill>
                <a:effectLst/>
                <a:latin typeface="华文楷体" panose="02010600040101010101" charset="-122"/>
                <a:ea typeface="华文楷体" panose="02010600040101010101" charset="-122"/>
                <a:cs typeface="华文楷体" panose="02010600040101010101" charset="-122"/>
                <a:sym typeface="+mn-ea"/>
              </a:rPr>
              <a:t>master</a:t>
            </a:r>
            <a:r>
              <a:rPr lang="zh-CN" altLang="en-US">
                <a:solidFill>
                  <a:srgbClr val="333333"/>
                </a:solidFill>
                <a:effectLst/>
                <a:latin typeface="华文楷体" panose="02010600040101010101" charset="-122"/>
                <a:ea typeface="华文楷体" panose="02010600040101010101" charset="-122"/>
                <a:cs typeface="华文楷体" panose="02010600040101010101" charset="-122"/>
                <a:sym typeface="+mn-ea"/>
              </a:rPr>
              <a:t>和</a:t>
            </a:r>
            <a:r>
              <a:rPr lang="en-US" altLang="zh-CN">
                <a:solidFill>
                  <a:srgbClr val="333333"/>
                </a:solidFill>
                <a:effectLst/>
                <a:latin typeface="华文楷体" panose="02010600040101010101" charset="-122"/>
                <a:ea typeface="华文楷体" panose="02010600040101010101" charset="-122"/>
                <a:cs typeface="华文楷体" panose="02010600040101010101" charset="-122"/>
                <a:sym typeface="+mn-ea"/>
              </a:rPr>
              <a:t>slave</a:t>
            </a:r>
            <a:r>
              <a:rPr lang="zh-CN" altLang="en-US">
                <a:solidFill>
                  <a:srgbClr val="333333"/>
                </a:solidFill>
                <a:effectLst/>
                <a:latin typeface="华文楷体" panose="02010600040101010101" charset="-122"/>
                <a:ea typeface="华文楷体" panose="02010600040101010101" charset="-122"/>
                <a:cs typeface="华文楷体" panose="02010600040101010101" charset="-122"/>
                <a:sym typeface="+mn-ea"/>
              </a:rPr>
              <a:t>是否按预期工作</a:t>
            </a:r>
            <a:endParaRPr lang="en-US" altLang="zh-CN">
              <a:latin typeface="华文楷体" panose="02010600040101010101" charset="-122"/>
              <a:ea typeface="华文楷体" panose="02010600040101010101" charset="-122"/>
              <a:cs typeface="华文楷体" panose="02010600040101010101" charset="-122"/>
            </a:endParaRPr>
          </a:p>
          <a:p>
            <a:pPr indent="0">
              <a:lnSpc>
                <a:spcPct val="150000"/>
              </a:lnSpc>
              <a:buFont typeface="Arial" panose="020B0604020202020204" pitchFamily="34" charset="0"/>
              <a:buNone/>
            </a:pPr>
            <a:r>
              <a:rPr lang="zh-CN" altLang="en-US" b="1">
                <a:latin typeface="华文楷体" panose="02010600040101010101" charset="-122"/>
                <a:ea typeface="华文楷体" panose="02010600040101010101" charset="-122"/>
                <a:cs typeface="华文楷体" panose="02010600040101010101" charset="-122"/>
                <a:sym typeface="+mn-ea"/>
              </a:rPr>
              <a:t>自动故障切换</a:t>
            </a:r>
            <a:r>
              <a:rPr lang="zh-CN" altLang="en-US">
                <a:latin typeface="华文楷体" panose="02010600040101010101" charset="-122"/>
                <a:ea typeface="华文楷体" panose="02010600040101010101" charset="-122"/>
                <a:cs typeface="华文楷体" panose="02010600040101010101" charset="-122"/>
                <a:sym typeface="+mn-ea"/>
              </a:rPr>
              <a:t>：如果</a:t>
            </a:r>
            <a:r>
              <a:rPr lang="en-US" altLang="zh-CN">
                <a:latin typeface="华文楷体" panose="02010600040101010101" charset="-122"/>
                <a:ea typeface="华文楷体" panose="02010600040101010101" charset="-122"/>
                <a:cs typeface="华文楷体" panose="02010600040101010101" charset="-122"/>
                <a:sym typeface="+mn-ea"/>
              </a:rPr>
              <a:t>master</a:t>
            </a:r>
            <a:r>
              <a:rPr lang="zh-CN" altLang="en-US">
                <a:latin typeface="华文楷体" panose="02010600040101010101" charset="-122"/>
                <a:ea typeface="华文楷体" panose="02010600040101010101" charset="-122"/>
                <a:cs typeface="华文楷体" panose="02010600040101010101" charset="-122"/>
                <a:sym typeface="+mn-ea"/>
              </a:rPr>
              <a:t>故障，</a:t>
            </a:r>
            <a:r>
              <a:rPr lang="en-US" altLang="zh-CN">
                <a:latin typeface="华文楷体" panose="02010600040101010101" charset="-122"/>
                <a:ea typeface="华文楷体" panose="02010600040101010101" charset="-122"/>
                <a:cs typeface="华文楷体" panose="02010600040101010101" charset="-122"/>
                <a:sym typeface="+mn-ea"/>
              </a:rPr>
              <a:t>Sentinel</a:t>
            </a:r>
            <a:r>
              <a:rPr lang="zh-CN" altLang="en-US">
                <a:latin typeface="华文楷体" panose="02010600040101010101" charset="-122"/>
                <a:ea typeface="华文楷体" panose="02010600040101010101" charset="-122"/>
                <a:cs typeface="华文楷体" panose="02010600040101010101" charset="-122"/>
                <a:sym typeface="+mn-ea"/>
              </a:rPr>
              <a:t>会将一个</a:t>
            </a:r>
            <a:r>
              <a:rPr lang="en-US" altLang="zh-CN">
                <a:latin typeface="华文楷体" panose="02010600040101010101" charset="-122"/>
                <a:ea typeface="华文楷体" panose="02010600040101010101" charset="-122"/>
                <a:cs typeface="华文楷体" panose="02010600040101010101" charset="-122"/>
                <a:sym typeface="+mn-ea"/>
              </a:rPr>
              <a:t>slave</a:t>
            </a:r>
            <a:r>
              <a:rPr lang="zh-CN" altLang="en-US">
                <a:latin typeface="华文楷体" panose="02010600040101010101" charset="-122"/>
                <a:ea typeface="华文楷体" panose="02010600040101010101" charset="-122"/>
                <a:cs typeface="华文楷体" panose="02010600040101010101" charset="-122"/>
                <a:sym typeface="+mn-ea"/>
              </a:rPr>
              <a:t>提升为</a:t>
            </a:r>
            <a:r>
              <a:rPr lang="en-US" altLang="zh-CN">
                <a:latin typeface="华文楷体" panose="02010600040101010101" charset="-122"/>
                <a:ea typeface="华文楷体" panose="02010600040101010101" charset="-122"/>
                <a:cs typeface="华文楷体" panose="02010600040101010101" charset="-122"/>
                <a:sym typeface="+mn-ea"/>
              </a:rPr>
              <a:t>master</a:t>
            </a:r>
            <a:r>
              <a:rPr lang="zh-CN" altLang="en-US">
                <a:latin typeface="华文楷体" panose="02010600040101010101" charset="-122"/>
                <a:ea typeface="华文楷体" panose="02010600040101010101" charset="-122"/>
                <a:cs typeface="华文楷体" panose="02010600040101010101" charset="-122"/>
                <a:sym typeface="+mn-ea"/>
              </a:rPr>
              <a:t>。当故障实例恢复后也以新的</a:t>
            </a:r>
            <a:r>
              <a:rPr lang="en-US" altLang="zh-CN">
                <a:latin typeface="华文楷体" panose="02010600040101010101" charset="-122"/>
                <a:ea typeface="华文楷体" panose="02010600040101010101" charset="-122"/>
                <a:cs typeface="华文楷体" panose="02010600040101010101" charset="-122"/>
                <a:sym typeface="+mn-ea"/>
              </a:rPr>
              <a:t>master</a:t>
            </a:r>
            <a:r>
              <a:rPr lang="zh-CN" altLang="en-US">
                <a:latin typeface="华文楷体" panose="02010600040101010101" charset="-122"/>
                <a:ea typeface="华文楷体" panose="02010600040101010101" charset="-122"/>
                <a:cs typeface="华文楷体" panose="02010600040101010101" charset="-122"/>
                <a:sym typeface="+mn-ea"/>
              </a:rPr>
              <a:t>为主</a:t>
            </a:r>
            <a:endParaRPr lang="en-US" altLang="zh-CN">
              <a:latin typeface="华文楷体" panose="02010600040101010101" charset="-122"/>
              <a:ea typeface="华文楷体" panose="02010600040101010101" charset="-122"/>
              <a:cs typeface="华文楷体" panose="02010600040101010101" charset="-122"/>
            </a:endParaRPr>
          </a:p>
          <a:p>
            <a:pPr indent="0">
              <a:lnSpc>
                <a:spcPct val="150000"/>
              </a:lnSpc>
              <a:buFont typeface="Arial" panose="020B0604020202020204" pitchFamily="34" charset="0"/>
              <a:buNone/>
            </a:pPr>
            <a:r>
              <a:rPr lang="zh-CN" altLang="en-US" b="1">
                <a:latin typeface="华文楷体" panose="02010600040101010101" charset="-122"/>
                <a:ea typeface="华文楷体" panose="02010600040101010101" charset="-122"/>
                <a:cs typeface="华文楷体" panose="02010600040101010101" charset="-122"/>
                <a:sym typeface="+mn-ea"/>
              </a:rPr>
              <a:t>通知</a:t>
            </a:r>
            <a:r>
              <a:rPr lang="zh-CN" altLang="en-US">
                <a:latin typeface="华文楷体" panose="02010600040101010101" charset="-122"/>
                <a:ea typeface="华文楷体" panose="02010600040101010101" charset="-122"/>
                <a:cs typeface="华文楷体" panose="02010600040101010101" charset="-122"/>
                <a:sym typeface="+mn-ea"/>
              </a:rPr>
              <a:t>：当集群发生故障转移时，</a:t>
            </a:r>
            <a:r>
              <a:rPr lang="en-US" altLang="zh-CN">
                <a:latin typeface="华文楷体" panose="02010600040101010101" charset="-122"/>
                <a:ea typeface="华文楷体" panose="02010600040101010101" charset="-122"/>
                <a:cs typeface="华文楷体" panose="02010600040101010101" charset="-122"/>
                <a:sym typeface="+mn-ea"/>
              </a:rPr>
              <a:t>Sentinel</a:t>
            </a:r>
            <a:r>
              <a:rPr lang="zh-CN" altLang="en-US">
                <a:latin typeface="华文楷体" panose="02010600040101010101" charset="-122"/>
                <a:ea typeface="华文楷体" panose="02010600040101010101" charset="-122"/>
                <a:cs typeface="华文楷体" panose="02010600040101010101" charset="-122"/>
                <a:sym typeface="+mn-ea"/>
              </a:rPr>
              <a:t>会将最新节点角色信息推送给</a:t>
            </a:r>
            <a:r>
              <a:rPr lang="en-US" altLang="zh-CN">
                <a:latin typeface="华文楷体" panose="02010600040101010101" charset="-122"/>
                <a:ea typeface="华文楷体" panose="02010600040101010101" charset="-122"/>
                <a:cs typeface="华文楷体" panose="02010600040101010101" charset="-122"/>
                <a:sym typeface="+mn-ea"/>
              </a:rPr>
              <a:t>Redis</a:t>
            </a:r>
            <a:r>
              <a:rPr lang="zh-CN" altLang="en-US">
                <a:latin typeface="华文楷体" panose="02010600040101010101" charset="-122"/>
                <a:ea typeface="华文楷体" panose="02010600040101010101" charset="-122"/>
                <a:cs typeface="华文楷体" panose="02010600040101010101" charset="-122"/>
                <a:sym typeface="+mn-ea"/>
              </a:rPr>
              <a:t>的客户端</a:t>
            </a: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解释下主观下线和客观下线？</a:t>
            </a:r>
          </a:p>
        </p:txBody>
      </p:sp>
      <p:sp>
        <p:nvSpPr>
          <p:cNvPr id="6" name="文本框 5"/>
          <p:cNvSpPr txBox="1"/>
          <p:nvPr/>
        </p:nvSpPr>
        <p:spPr>
          <a:xfrm>
            <a:off x="426085" y="1754505"/>
            <a:ext cx="11040110" cy="2752090"/>
          </a:xfrm>
          <a:prstGeom prst="rect">
            <a:avLst/>
          </a:prstGeom>
          <a:noFill/>
        </p:spPr>
        <p:txBody>
          <a:bodyPr wrap="square">
            <a:noAutofit/>
          </a:bodyPr>
          <a:lstStyle/>
          <a:p>
            <a:pPr fontAlgn="auto">
              <a:lnSpc>
                <a:spcPct val="150000"/>
              </a:lnSpc>
              <a:spcBef>
                <a:spcPts val="0"/>
              </a:spcBef>
              <a:spcAft>
                <a:spcPts val="0"/>
              </a:spcAft>
            </a:pPr>
            <a:r>
              <a:rPr lang="en-US" altLang="zh-CN">
                <a:latin typeface="华文楷体" panose="02010600040101010101" charset="-122"/>
                <a:ea typeface="华文楷体" panose="02010600040101010101" charset="-122"/>
                <a:cs typeface="华文楷体" panose="02010600040101010101" charset="-122"/>
                <a:sym typeface="+mn-ea"/>
              </a:rPr>
              <a:t>Sentinel</a:t>
            </a:r>
            <a:r>
              <a:rPr lang="zh-CN" altLang="en-US">
                <a:latin typeface="华文楷体" panose="02010600040101010101" charset="-122"/>
                <a:ea typeface="华文楷体" panose="02010600040101010101" charset="-122"/>
                <a:cs typeface="华文楷体" panose="02010600040101010101" charset="-122"/>
                <a:sym typeface="+mn-ea"/>
              </a:rPr>
              <a:t>基于心跳机制监测服务状态，每隔</a:t>
            </a:r>
            <a:r>
              <a:rPr lang="en-US" altLang="zh-CN">
                <a:latin typeface="华文楷体" panose="02010600040101010101" charset="-122"/>
                <a:ea typeface="华文楷体" panose="02010600040101010101" charset="-122"/>
                <a:cs typeface="华文楷体" panose="02010600040101010101" charset="-122"/>
                <a:sym typeface="+mn-ea"/>
              </a:rPr>
              <a:t>1</a:t>
            </a:r>
            <a:r>
              <a:rPr lang="zh-CN" altLang="en-US">
                <a:latin typeface="华文楷体" panose="02010600040101010101" charset="-122"/>
                <a:ea typeface="华文楷体" panose="02010600040101010101" charset="-122"/>
                <a:cs typeface="华文楷体" panose="02010600040101010101" charset="-122"/>
                <a:sym typeface="+mn-ea"/>
              </a:rPr>
              <a:t>秒向集群的每个实例发送</a:t>
            </a:r>
            <a:r>
              <a:rPr lang="en-US" altLang="zh-CN">
                <a:latin typeface="华文楷体" panose="02010600040101010101" charset="-122"/>
                <a:ea typeface="华文楷体" panose="02010600040101010101" charset="-122"/>
                <a:cs typeface="华文楷体" panose="02010600040101010101" charset="-122"/>
                <a:sym typeface="+mn-ea"/>
              </a:rPr>
              <a:t>ping</a:t>
            </a:r>
            <a:r>
              <a:rPr lang="zh-CN" altLang="en-US">
                <a:latin typeface="华文楷体" panose="02010600040101010101" charset="-122"/>
                <a:ea typeface="华文楷体" panose="02010600040101010101" charset="-122"/>
                <a:cs typeface="华文楷体" panose="02010600040101010101" charset="-122"/>
                <a:sym typeface="+mn-ea"/>
              </a:rPr>
              <a:t>命令：</a:t>
            </a:r>
          </a:p>
          <a:p>
            <a:pPr fontAlgn="auto">
              <a:lnSpc>
                <a:spcPct val="150000"/>
              </a:lnSpc>
              <a:spcBef>
                <a:spcPts val="0"/>
              </a:spcBef>
              <a:spcAft>
                <a:spcPts val="0"/>
              </a:spcAft>
            </a:pPr>
            <a:endParaRPr lang="en-US" altLang="zh-CN">
              <a:latin typeface="华文楷体" panose="02010600040101010101" charset="-122"/>
              <a:ea typeface="华文楷体" panose="02010600040101010101" charset="-122"/>
              <a:cs typeface="华文楷体" panose="02010600040101010101" charset="-122"/>
            </a:endParaRPr>
          </a:p>
          <a:p>
            <a:pPr indent="0">
              <a:lnSpc>
                <a:spcPct val="150000"/>
              </a:lnSpc>
              <a:buFont typeface="Arial" panose="020B0604020202020204" pitchFamily="34" charset="0"/>
              <a:buNone/>
            </a:pPr>
            <a:r>
              <a:rPr lang="zh-CN" altLang="en-US">
                <a:latin typeface="华文楷体" panose="02010600040101010101" charset="-122"/>
                <a:ea typeface="华文楷体" panose="02010600040101010101" charset="-122"/>
                <a:cs typeface="华文楷体" panose="02010600040101010101" charset="-122"/>
                <a:sym typeface="+mn-ea"/>
              </a:rPr>
              <a:t>主观下线：如果某</a:t>
            </a:r>
            <a:r>
              <a:rPr lang="en-US" altLang="zh-CN">
                <a:latin typeface="华文楷体" panose="02010600040101010101" charset="-122"/>
                <a:ea typeface="华文楷体" panose="02010600040101010101" charset="-122"/>
                <a:cs typeface="华文楷体" panose="02010600040101010101" charset="-122"/>
                <a:sym typeface="+mn-ea"/>
              </a:rPr>
              <a:t>sentinel</a:t>
            </a:r>
            <a:r>
              <a:rPr lang="zh-CN" altLang="en-US">
                <a:latin typeface="华文楷体" panose="02010600040101010101" charset="-122"/>
                <a:ea typeface="华文楷体" panose="02010600040101010101" charset="-122"/>
                <a:cs typeface="华文楷体" panose="02010600040101010101" charset="-122"/>
                <a:sym typeface="+mn-ea"/>
              </a:rPr>
              <a:t>节点发现某实例未在规定时间响应，则认为该实例</a:t>
            </a:r>
            <a:r>
              <a:rPr lang="zh-CN" altLang="en-US" b="1">
                <a:latin typeface="华文楷体" panose="02010600040101010101" charset="-122"/>
                <a:ea typeface="华文楷体" panose="02010600040101010101" charset="-122"/>
                <a:cs typeface="华文楷体" panose="02010600040101010101" charset="-122"/>
                <a:sym typeface="+mn-ea"/>
              </a:rPr>
              <a:t>主观下线</a:t>
            </a:r>
            <a:r>
              <a:rPr lang="zh-CN" altLang="en-US">
                <a:latin typeface="华文楷体" panose="02010600040101010101" charset="-122"/>
                <a:ea typeface="华文楷体" panose="02010600040101010101" charset="-122"/>
                <a:cs typeface="华文楷体" panose="02010600040101010101" charset="-122"/>
                <a:sym typeface="+mn-ea"/>
              </a:rPr>
              <a:t>。</a:t>
            </a:r>
            <a:endParaRPr lang="en-US" altLang="zh-CN">
              <a:latin typeface="华文楷体" panose="02010600040101010101" charset="-122"/>
              <a:ea typeface="华文楷体" panose="02010600040101010101" charset="-122"/>
              <a:cs typeface="华文楷体" panose="02010600040101010101" charset="-122"/>
            </a:endParaRPr>
          </a:p>
          <a:p>
            <a:pPr indent="0">
              <a:lnSpc>
                <a:spcPct val="150000"/>
              </a:lnSpc>
              <a:buFont typeface="Arial" panose="020B0604020202020204" pitchFamily="34" charset="0"/>
              <a:buNone/>
            </a:pPr>
            <a:r>
              <a:rPr lang="zh-CN" altLang="en-US">
                <a:latin typeface="华文楷体" panose="02010600040101010101" charset="-122"/>
                <a:ea typeface="华文楷体" panose="02010600040101010101" charset="-122"/>
                <a:cs typeface="华文楷体" panose="02010600040101010101" charset="-122"/>
                <a:sym typeface="+mn-ea"/>
              </a:rPr>
              <a:t>客观下线：若超过指定数量（</a:t>
            </a:r>
            <a:r>
              <a:rPr lang="en-US" altLang="zh-CN">
                <a:latin typeface="华文楷体" panose="02010600040101010101" charset="-122"/>
                <a:ea typeface="华文楷体" panose="02010600040101010101" charset="-122"/>
                <a:cs typeface="华文楷体" panose="02010600040101010101" charset="-122"/>
                <a:sym typeface="+mn-ea"/>
              </a:rPr>
              <a:t>quorum</a:t>
            </a:r>
            <a:r>
              <a:rPr lang="zh-CN" altLang="en-US">
                <a:latin typeface="华文楷体" panose="02010600040101010101" charset="-122"/>
                <a:ea typeface="华文楷体" panose="02010600040101010101" charset="-122"/>
                <a:cs typeface="华文楷体" panose="02010600040101010101" charset="-122"/>
                <a:sym typeface="+mn-ea"/>
              </a:rPr>
              <a:t>）的</a:t>
            </a:r>
            <a:r>
              <a:rPr lang="en-US" altLang="zh-CN">
                <a:latin typeface="华文楷体" panose="02010600040101010101" charset="-122"/>
                <a:ea typeface="华文楷体" panose="02010600040101010101" charset="-122"/>
                <a:cs typeface="华文楷体" panose="02010600040101010101" charset="-122"/>
                <a:sym typeface="+mn-ea"/>
              </a:rPr>
              <a:t>sentinel</a:t>
            </a:r>
            <a:r>
              <a:rPr lang="zh-CN" altLang="en-US">
                <a:latin typeface="华文楷体" panose="02010600040101010101" charset="-122"/>
                <a:ea typeface="华文楷体" panose="02010600040101010101" charset="-122"/>
                <a:cs typeface="华文楷体" panose="02010600040101010101" charset="-122"/>
                <a:sym typeface="+mn-ea"/>
              </a:rPr>
              <a:t>都认为该实例主观下线，则该实例</a:t>
            </a:r>
            <a:r>
              <a:rPr lang="zh-CN" altLang="en-US" b="1">
                <a:latin typeface="华文楷体" panose="02010600040101010101" charset="-122"/>
                <a:ea typeface="华文楷体" panose="02010600040101010101" charset="-122"/>
                <a:cs typeface="华文楷体" panose="02010600040101010101" charset="-122"/>
                <a:sym typeface="+mn-ea"/>
              </a:rPr>
              <a:t>客观下线</a:t>
            </a:r>
            <a:r>
              <a:rPr lang="zh-CN" altLang="en-US">
                <a:latin typeface="华文楷体" panose="02010600040101010101" charset="-122"/>
                <a:ea typeface="华文楷体" panose="02010600040101010101" charset="-122"/>
                <a:cs typeface="华文楷体" panose="02010600040101010101" charset="-122"/>
                <a:sym typeface="+mn-ea"/>
              </a:rPr>
              <a:t>。</a:t>
            </a:r>
            <a:r>
              <a:rPr lang="en-US" altLang="zh-CN">
                <a:latin typeface="华文楷体" panose="02010600040101010101" charset="-122"/>
                <a:ea typeface="华文楷体" panose="02010600040101010101" charset="-122"/>
                <a:cs typeface="华文楷体" panose="02010600040101010101" charset="-122"/>
                <a:sym typeface="+mn-ea"/>
              </a:rPr>
              <a:t>quorum</a:t>
            </a:r>
            <a:r>
              <a:rPr lang="zh-CN" altLang="en-US">
                <a:latin typeface="华文楷体" panose="02010600040101010101" charset="-122"/>
                <a:ea typeface="华文楷体" panose="02010600040101010101" charset="-122"/>
                <a:cs typeface="华文楷体" panose="02010600040101010101" charset="-122"/>
                <a:sym typeface="+mn-ea"/>
              </a:rPr>
              <a:t>值最好超过</a:t>
            </a:r>
            <a:r>
              <a:rPr lang="en-US" altLang="zh-CN">
                <a:latin typeface="华文楷体" panose="02010600040101010101" charset="-122"/>
                <a:ea typeface="华文楷体" panose="02010600040101010101" charset="-122"/>
                <a:cs typeface="华文楷体" panose="02010600040101010101" charset="-122"/>
                <a:sym typeface="+mn-ea"/>
              </a:rPr>
              <a:t>Sentinel</a:t>
            </a:r>
            <a:r>
              <a:rPr lang="zh-CN" altLang="en-US">
                <a:latin typeface="华文楷体" panose="02010600040101010101" charset="-122"/>
                <a:ea typeface="华文楷体" panose="02010600040101010101" charset="-122"/>
                <a:cs typeface="华文楷体" panose="02010600040101010101" charset="-122"/>
                <a:sym typeface="+mn-ea"/>
              </a:rPr>
              <a:t>实例数量的一半。</a:t>
            </a: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哨兵选主规则？</a:t>
            </a:r>
          </a:p>
        </p:txBody>
      </p:sp>
      <p:sp>
        <p:nvSpPr>
          <p:cNvPr id="6" name="文本框 5"/>
          <p:cNvSpPr txBox="1"/>
          <p:nvPr/>
        </p:nvSpPr>
        <p:spPr>
          <a:xfrm>
            <a:off x="398145" y="1699260"/>
            <a:ext cx="11040110" cy="3200400"/>
          </a:xfrm>
          <a:prstGeom prst="rect">
            <a:avLst/>
          </a:prstGeom>
          <a:noFill/>
        </p:spPr>
        <p:txBody>
          <a:bodyPr wrap="square">
            <a:noAutofit/>
          </a:bodyPr>
          <a:lstStyle/>
          <a:p>
            <a:pPr fontAlgn="auto">
              <a:spcBef>
                <a:spcPts val="0"/>
              </a:spcBef>
              <a:spcAft>
                <a:spcPts val="0"/>
              </a:spcAft>
            </a:pPr>
            <a:r>
              <a:rPr lang="zh-CN" altLang="en-US">
                <a:latin typeface="华文楷体" panose="02010600040101010101" charset="-122"/>
                <a:ea typeface="华文楷体" panose="02010600040101010101" charset="-122"/>
                <a:cs typeface="华文楷体" panose="02010600040101010101" charset="-122"/>
                <a:sym typeface="+mn-ea"/>
              </a:rPr>
              <a:t>一旦发现</a:t>
            </a:r>
            <a:r>
              <a:rPr lang="en-US" altLang="zh-CN">
                <a:latin typeface="华文楷体" panose="02010600040101010101" charset="-122"/>
                <a:ea typeface="华文楷体" panose="02010600040101010101" charset="-122"/>
                <a:cs typeface="华文楷体" panose="02010600040101010101" charset="-122"/>
                <a:sym typeface="+mn-ea"/>
              </a:rPr>
              <a:t>master</a:t>
            </a:r>
            <a:r>
              <a:rPr lang="zh-CN" altLang="en-US">
                <a:latin typeface="华文楷体" panose="02010600040101010101" charset="-122"/>
                <a:ea typeface="华文楷体" panose="02010600040101010101" charset="-122"/>
                <a:cs typeface="华文楷体" panose="02010600040101010101" charset="-122"/>
                <a:sym typeface="+mn-ea"/>
              </a:rPr>
              <a:t>故障，</a:t>
            </a:r>
            <a:r>
              <a:rPr lang="en-US" altLang="zh-CN">
                <a:latin typeface="华文楷体" panose="02010600040101010101" charset="-122"/>
                <a:ea typeface="华文楷体" panose="02010600040101010101" charset="-122"/>
                <a:cs typeface="华文楷体" panose="02010600040101010101" charset="-122"/>
                <a:sym typeface="+mn-ea"/>
              </a:rPr>
              <a:t>sentinel</a:t>
            </a:r>
            <a:r>
              <a:rPr lang="zh-CN" altLang="en-US">
                <a:latin typeface="华文楷体" panose="02010600040101010101" charset="-122"/>
                <a:ea typeface="华文楷体" panose="02010600040101010101" charset="-122"/>
                <a:cs typeface="华文楷体" panose="02010600040101010101" charset="-122"/>
                <a:sym typeface="+mn-ea"/>
              </a:rPr>
              <a:t>需要在</a:t>
            </a:r>
            <a:r>
              <a:rPr lang="en-US" altLang="zh-CN">
                <a:latin typeface="华文楷体" panose="02010600040101010101" charset="-122"/>
                <a:ea typeface="华文楷体" panose="02010600040101010101" charset="-122"/>
                <a:cs typeface="华文楷体" panose="02010600040101010101" charset="-122"/>
                <a:sym typeface="+mn-ea"/>
              </a:rPr>
              <a:t>salve</a:t>
            </a:r>
            <a:r>
              <a:rPr lang="zh-CN" altLang="en-US">
                <a:latin typeface="华文楷体" panose="02010600040101010101" charset="-122"/>
                <a:ea typeface="华文楷体" panose="02010600040101010101" charset="-122"/>
                <a:cs typeface="华文楷体" panose="02010600040101010101" charset="-122"/>
                <a:sym typeface="+mn-ea"/>
              </a:rPr>
              <a:t>中选择一个作为新的</a:t>
            </a:r>
            <a:r>
              <a:rPr lang="en-US" altLang="zh-CN">
                <a:latin typeface="华文楷体" panose="02010600040101010101" charset="-122"/>
                <a:ea typeface="华文楷体" panose="02010600040101010101" charset="-122"/>
                <a:cs typeface="华文楷体" panose="02010600040101010101" charset="-122"/>
                <a:sym typeface="+mn-ea"/>
              </a:rPr>
              <a:t>master</a:t>
            </a:r>
            <a:r>
              <a:rPr lang="zh-CN" altLang="en-US">
                <a:latin typeface="华文楷体" panose="02010600040101010101" charset="-122"/>
                <a:ea typeface="华文楷体" panose="02010600040101010101" charset="-122"/>
                <a:cs typeface="华文楷体" panose="02010600040101010101" charset="-122"/>
                <a:sym typeface="+mn-ea"/>
              </a:rPr>
              <a:t>，选择依据是这样的：</a:t>
            </a:r>
          </a:p>
          <a:p>
            <a:pPr fontAlgn="auto">
              <a:spcBef>
                <a:spcPts val="0"/>
              </a:spcBef>
              <a:spcAft>
                <a:spcPts val="0"/>
              </a:spcAft>
            </a:pPr>
            <a:endParaRPr lang="en-US" altLang="zh-CN">
              <a:latin typeface="华文楷体" panose="02010600040101010101" charset="-122"/>
              <a:ea typeface="华文楷体" panose="02010600040101010101" charset="-122"/>
              <a:cs typeface="华文楷体" panose="02010600040101010101" charset="-122"/>
            </a:endParaRPr>
          </a:p>
          <a:p>
            <a:pPr indent="0">
              <a:lnSpc>
                <a:spcPct val="140000"/>
              </a:lnSpc>
              <a:buFont typeface="Arial" panose="020B0604020202020204" pitchFamily="34" charset="0"/>
              <a:buNone/>
            </a:pPr>
            <a:r>
              <a:rPr lang="en-US" altLang="zh-CN">
                <a:latin typeface="华文楷体" panose="02010600040101010101" charset="-122"/>
                <a:ea typeface="华文楷体" panose="02010600040101010101" charset="-122"/>
                <a:cs typeface="华文楷体" panose="02010600040101010101" charset="-122"/>
                <a:sym typeface="+mn-ea"/>
              </a:rPr>
              <a:t>1.</a:t>
            </a:r>
            <a:r>
              <a:rPr lang="zh-CN" altLang="en-US">
                <a:latin typeface="华文楷体" panose="02010600040101010101" charset="-122"/>
                <a:ea typeface="华文楷体" panose="02010600040101010101" charset="-122"/>
                <a:cs typeface="华文楷体" panose="02010600040101010101" charset="-122"/>
                <a:sym typeface="+mn-ea"/>
              </a:rPr>
              <a:t>首先会判断</a:t>
            </a:r>
            <a:r>
              <a:rPr lang="en-US" altLang="zh-CN">
                <a:latin typeface="华文楷体" panose="02010600040101010101" charset="-122"/>
                <a:ea typeface="华文楷体" panose="02010600040101010101" charset="-122"/>
                <a:cs typeface="华文楷体" panose="02010600040101010101" charset="-122"/>
                <a:sym typeface="+mn-ea"/>
              </a:rPr>
              <a:t>slave</a:t>
            </a:r>
            <a:r>
              <a:rPr lang="zh-CN" altLang="en-US">
                <a:latin typeface="华文楷体" panose="02010600040101010101" charset="-122"/>
                <a:ea typeface="华文楷体" panose="02010600040101010101" charset="-122"/>
                <a:cs typeface="华文楷体" panose="02010600040101010101" charset="-122"/>
                <a:sym typeface="+mn-ea"/>
              </a:rPr>
              <a:t>节点与</a:t>
            </a:r>
            <a:r>
              <a:rPr lang="en-US" altLang="zh-CN">
                <a:latin typeface="华文楷体" panose="02010600040101010101" charset="-122"/>
                <a:ea typeface="华文楷体" panose="02010600040101010101" charset="-122"/>
                <a:cs typeface="华文楷体" panose="02010600040101010101" charset="-122"/>
                <a:sym typeface="+mn-ea"/>
              </a:rPr>
              <a:t>master</a:t>
            </a:r>
            <a:r>
              <a:rPr lang="zh-CN" altLang="en-US">
                <a:latin typeface="华文楷体" panose="02010600040101010101" charset="-122"/>
                <a:ea typeface="华文楷体" panose="02010600040101010101" charset="-122"/>
                <a:cs typeface="华文楷体" panose="02010600040101010101" charset="-122"/>
                <a:sym typeface="+mn-ea"/>
              </a:rPr>
              <a:t>节点断开时间长短，如果超过指定值（</a:t>
            </a:r>
            <a:r>
              <a:rPr lang="en-US" altLang="zh-CN">
                <a:latin typeface="华文楷体" panose="02010600040101010101" charset="-122"/>
                <a:ea typeface="华文楷体" panose="02010600040101010101" charset="-122"/>
                <a:cs typeface="华文楷体" panose="02010600040101010101" charset="-122"/>
                <a:sym typeface="+mn-ea"/>
              </a:rPr>
              <a:t>down-after-milliseconds </a:t>
            </a:r>
            <a:r>
              <a:rPr lang="zh-CN" altLang="en-US">
                <a:latin typeface="华文楷体" panose="02010600040101010101" charset="-122"/>
                <a:ea typeface="华文楷体" panose="02010600040101010101" charset="-122"/>
                <a:cs typeface="华文楷体" panose="02010600040101010101" charset="-122"/>
                <a:sym typeface="+mn-ea"/>
              </a:rPr>
              <a:t>* </a:t>
            </a:r>
            <a:r>
              <a:rPr lang="en-US" altLang="zh-CN">
                <a:latin typeface="华文楷体" panose="02010600040101010101" charset="-122"/>
                <a:ea typeface="华文楷体" panose="02010600040101010101" charset="-122"/>
                <a:cs typeface="华文楷体" panose="02010600040101010101" charset="-122"/>
                <a:sym typeface="+mn-ea"/>
              </a:rPr>
              <a:t>10</a:t>
            </a:r>
            <a:r>
              <a:rPr lang="zh-CN" altLang="en-US">
                <a:latin typeface="华文楷体" panose="02010600040101010101" charset="-122"/>
                <a:ea typeface="华文楷体" panose="02010600040101010101" charset="-122"/>
                <a:cs typeface="华文楷体" panose="02010600040101010101" charset="-122"/>
                <a:sym typeface="+mn-ea"/>
              </a:rPr>
              <a:t>）则会排除该</a:t>
            </a:r>
            <a:r>
              <a:rPr lang="en-US" altLang="zh-CN">
                <a:latin typeface="华文楷体" panose="02010600040101010101" charset="-122"/>
                <a:ea typeface="华文楷体" panose="02010600040101010101" charset="-122"/>
                <a:cs typeface="华文楷体" panose="02010600040101010101" charset="-122"/>
                <a:sym typeface="+mn-ea"/>
              </a:rPr>
              <a:t>slave</a:t>
            </a:r>
            <a:r>
              <a:rPr lang="zh-CN" altLang="en-US">
                <a:latin typeface="华文楷体" panose="02010600040101010101" charset="-122"/>
                <a:ea typeface="华文楷体" panose="02010600040101010101" charset="-122"/>
                <a:cs typeface="华文楷体" panose="02010600040101010101" charset="-122"/>
                <a:sym typeface="+mn-ea"/>
              </a:rPr>
              <a:t>节点</a:t>
            </a:r>
            <a:endParaRPr lang="en-US" altLang="zh-CN">
              <a:latin typeface="华文楷体" panose="02010600040101010101" charset="-122"/>
              <a:ea typeface="华文楷体" panose="02010600040101010101" charset="-122"/>
              <a:cs typeface="华文楷体" panose="02010600040101010101" charset="-122"/>
            </a:endParaRPr>
          </a:p>
          <a:p>
            <a:pPr indent="0">
              <a:lnSpc>
                <a:spcPct val="140000"/>
              </a:lnSpc>
              <a:buFont typeface="Arial" panose="020B0604020202020204" pitchFamily="34" charset="0"/>
              <a:buNone/>
            </a:pPr>
            <a:r>
              <a:rPr lang="en-US" altLang="zh-CN">
                <a:latin typeface="华文楷体" panose="02010600040101010101" charset="-122"/>
                <a:ea typeface="华文楷体" panose="02010600040101010101" charset="-122"/>
                <a:cs typeface="华文楷体" panose="02010600040101010101" charset="-122"/>
                <a:sym typeface="+mn-ea"/>
              </a:rPr>
              <a:t>2.</a:t>
            </a:r>
            <a:r>
              <a:rPr lang="zh-CN" altLang="en-US">
                <a:latin typeface="华文楷体" panose="02010600040101010101" charset="-122"/>
                <a:ea typeface="华文楷体" panose="02010600040101010101" charset="-122"/>
                <a:cs typeface="华文楷体" panose="02010600040101010101" charset="-122"/>
                <a:sym typeface="+mn-ea"/>
              </a:rPr>
              <a:t>然后判断</a:t>
            </a:r>
            <a:r>
              <a:rPr lang="en-US" altLang="zh-CN">
                <a:latin typeface="华文楷体" panose="02010600040101010101" charset="-122"/>
                <a:ea typeface="华文楷体" panose="02010600040101010101" charset="-122"/>
                <a:cs typeface="华文楷体" panose="02010600040101010101" charset="-122"/>
                <a:sym typeface="+mn-ea"/>
              </a:rPr>
              <a:t>slave</a:t>
            </a:r>
            <a:r>
              <a:rPr lang="zh-CN" altLang="en-US">
                <a:latin typeface="华文楷体" panose="02010600040101010101" charset="-122"/>
                <a:ea typeface="华文楷体" panose="02010600040101010101" charset="-122"/>
                <a:cs typeface="华文楷体" panose="02010600040101010101" charset="-122"/>
                <a:sym typeface="+mn-ea"/>
              </a:rPr>
              <a:t>节点的</a:t>
            </a:r>
            <a:r>
              <a:rPr lang="en-US" altLang="zh-CN">
                <a:solidFill>
                  <a:srgbClr val="555555"/>
                </a:solidFill>
                <a:effectLst/>
                <a:latin typeface="华文楷体" panose="02010600040101010101" charset="-122"/>
                <a:ea typeface="华文楷体" panose="02010600040101010101" charset="-122"/>
                <a:cs typeface="华文楷体" panose="02010600040101010101" charset="-122"/>
                <a:sym typeface="+mn-ea"/>
              </a:rPr>
              <a:t>slave-priority</a:t>
            </a:r>
            <a:r>
              <a:rPr lang="zh-CN" altLang="en-US">
                <a:solidFill>
                  <a:srgbClr val="555555"/>
                </a:solidFill>
                <a:effectLst/>
                <a:latin typeface="华文楷体" panose="02010600040101010101" charset="-122"/>
                <a:ea typeface="华文楷体" panose="02010600040101010101" charset="-122"/>
                <a:cs typeface="华文楷体" panose="02010600040101010101" charset="-122"/>
                <a:sym typeface="+mn-ea"/>
              </a:rPr>
              <a:t>值，越小优先级越高，如果是</a:t>
            </a:r>
            <a:r>
              <a:rPr lang="en-US" altLang="zh-CN">
                <a:solidFill>
                  <a:srgbClr val="555555"/>
                </a:solidFill>
                <a:effectLst/>
                <a:latin typeface="华文楷体" panose="02010600040101010101" charset="-122"/>
                <a:ea typeface="华文楷体" panose="02010600040101010101" charset="-122"/>
                <a:cs typeface="华文楷体" panose="02010600040101010101" charset="-122"/>
                <a:sym typeface="+mn-ea"/>
              </a:rPr>
              <a:t>0</a:t>
            </a:r>
            <a:r>
              <a:rPr lang="zh-CN" altLang="en-US">
                <a:solidFill>
                  <a:srgbClr val="555555"/>
                </a:solidFill>
                <a:effectLst/>
                <a:latin typeface="华文楷体" panose="02010600040101010101" charset="-122"/>
                <a:ea typeface="华文楷体" panose="02010600040101010101" charset="-122"/>
                <a:cs typeface="华文楷体" panose="02010600040101010101" charset="-122"/>
                <a:sym typeface="+mn-ea"/>
              </a:rPr>
              <a:t>则永不参与选举</a:t>
            </a:r>
            <a:endParaRPr lang="en-US" altLang="zh-CN" b="0" i="0">
              <a:solidFill>
                <a:srgbClr val="555555"/>
              </a:solidFill>
              <a:effectLst/>
              <a:latin typeface="华文楷体" panose="02010600040101010101" charset="-122"/>
              <a:ea typeface="华文楷体" panose="02010600040101010101" charset="-122"/>
              <a:cs typeface="华文楷体" panose="02010600040101010101" charset="-122"/>
            </a:endParaRPr>
          </a:p>
          <a:p>
            <a:pPr indent="0">
              <a:lnSpc>
                <a:spcPct val="140000"/>
              </a:lnSpc>
              <a:buFont typeface="Arial" panose="020B0604020202020204" pitchFamily="34" charset="0"/>
              <a:buNone/>
            </a:pPr>
            <a:r>
              <a:rPr lang="en-US" altLang="zh-CN">
                <a:solidFill>
                  <a:srgbClr val="555555"/>
                </a:solidFill>
                <a:latin typeface="华文楷体" panose="02010600040101010101" charset="-122"/>
                <a:ea typeface="华文楷体" panose="02010600040101010101" charset="-122"/>
                <a:cs typeface="华文楷体" panose="02010600040101010101" charset="-122"/>
                <a:sym typeface="+mn-ea"/>
              </a:rPr>
              <a:t>3.</a:t>
            </a:r>
            <a:r>
              <a:rPr lang="zh-CN" altLang="en-US">
                <a:solidFill>
                  <a:srgbClr val="555555"/>
                </a:solidFill>
                <a:latin typeface="华文楷体" panose="02010600040101010101" charset="-122"/>
                <a:ea typeface="华文楷体" panose="02010600040101010101" charset="-122"/>
                <a:cs typeface="华文楷体" panose="02010600040101010101" charset="-122"/>
                <a:sym typeface="+mn-ea"/>
              </a:rPr>
              <a:t>如果</a:t>
            </a:r>
            <a:r>
              <a:rPr lang="en-US" altLang="zh-CN">
                <a:solidFill>
                  <a:srgbClr val="555555"/>
                </a:solidFill>
                <a:latin typeface="华文楷体" panose="02010600040101010101" charset="-122"/>
                <a:ea typeface="华文楷体" panose="02010600040101010101" charset="-122"/>
                <a:cs typeface="华文楷体" panose="02010600040101010101" charset="-122"/>
                <a:sym typeface="+mn-ea"/>
              </a:rPr>
              <a:t>slave-prority</a:t>
            </a:r>
            <a:r>
              <a:rPr lang="zh-CN" altLang="en-US">
                <a:solidFill>
                  <a:srgbClr val="555555"/>
                </a:solidFill>
                <a:latin typeface="华文楷体" panose="02010600040101010101" charset="-122"/>
                <a:ea typeface="华文楷体" panose="02010600040101010101" charset="-122"/>
                <a:cs typeface="华文楷体" panose="02010600040101010101" charset="-122"/>
                <a:sym typeface="+mn-ea"/>
              </a:rPr>
              <a:t>一样，则判断</a:t>
            </a:r>
            <a:r>
              <a:rPr lang="en-US" altLang="zh-CN">
                <a:solidFill>
                  <a:srgbClr val="555555"/>
                </a:solidFill>
                <a:latin typeface="华文楷体" panose="02010600040101010101" charset="-122"/>
                <a:ea typeface="华文楷体" panose="02010600040101010101" charset="-122"/>
                <a:cs typeface="华文楷体" panose="02010600040101010101" charset="-122"/>
                <a:sym typeface="+mn-ea"/>
              </a:rPr>
              <a:t>slave</a:t>
            </a:r>
            <a:r>
              <a:rPr lang="zh-CN" altLang="en-US">
                <a:solidFill>
                  <a:srgbClr val="555555"/>
                </a:solidFill>
                <a:latin typeface="华文楷体" panose="02010600040101010101" charset="-122"/>
                <a:ea typeface="华文楷体" panose="02010600040101010101" charset="-122"/>
                <a:cs typeface="华文楷体" panose="02010600040101010101" charset="-122"/>
                <a:sym typeface="+mn-ea"/>
              </a:rPr>
              <a:t>节点的</a:t>
            </a:r>
            <a:r>
              <a:rPr lang="en-US" altLang="zh-CN">
                <a:solidFill>
                  <a:srgbClr val="555555"/>
                </a:solidFill>
                <a:latin typeface="华文楷体" panose="02010600040101010101" charset="-122"/>
                <a:ea typeface="华文楷体" panose="02010600040101010101" charset="-122"/>
                <a:cs typeface="华文楷体" panose="02010600040101010101" charset="-122"/>
                <a:sym typeface="+mn-ea"/>
              </a:rPr>
              <a:t>offset</a:t>
            </a:r>
            <a:r>
              <a:rPr lang="zh-CN" altLang="en-US">
                <a:solidFill>
                  <a:srgbClr val="555555"/>
                </a:solidFill>
                <a:latin typeface="华文楷体" panose="02010600040101010101" charset="-122"/>
                <a:ea typeface="华文楷体" panose="02010600040101010101" charset="-122"/>
                <a:cs typeface="华文楷体" panose="02010600040101010101" charset="-122"/>
                <a:sym typeface="+mn-ea"/>
              </a:rPr>
              <a:t>值，越大说明数据越新，优先级越高</a:t>
            </a:r>
            <a:endParaRPr lang="en-US" altLang="zh-CN">
              <a:solidFill>
                <a:srgbClr val="555555"/>
              </a:solidFill>
              <a:latin typeface="华文楷体" panose="02010600040101010101" charset="-122"/>
              <a:ea typeface="华文楷体" panose="02010600040101010101" charset="-122"/>
              <a:cs typeface="华文楷体" panose="02010600040101010101" charset="-122"/>
            </a:endParaRPr>
          </a:p>
          <a:p>
            <a:pPr indent="0">
              <a:lnSpc>
                <a:spcPct val="140000"/>
              </a:lnSpc>
              <a:buFont typeface="Arial" panose="020B0604020202020204" pitchFamily="34" charset="0"/>
              <a:buNone/>
            </a:pPr>
            <a:r>
              <a:rPr lang="en-US" altLang="zh-CN">
                <a:solidFill>
                  <a:srgbClr val="555555"/>
                </a:solidFill>
                <a:effectLst/>
                <a:latin typeface="华文楷体" panose="02010600040101010101" charset="-122"/>
                <a:ea typeface="华文楷体" panose="02010600040101010101" charset="-122"/>
                <a:cs typeface="华文楷体" panose="02010600040101010101" charset="-122"/>
                <a:sym typeface="+mn-ea"/>
              </a:rPr>
              <a:t>4.</a:t>
            </a:r>
            <a:r>
              <a:rPr lang="zh-CN" altLang="en-US">
                <a:solidFill>
                  <a:srgbClr val="555555"/>
                </a:solidFill>
                <a:effectLst/>
                <a:latin typeface="华文楷体" panose="02010600040101010101" charset="-122"/>
                <a:ea typeface="华文楷体" panose="02010600040101010101" charset="-122"/>
                <a:cs typeface="华文楷体" panose="02010600040101010101" charset="-122"/>
                <a:sym typeface="+mn-ea"/>
              </a:rPr>
              <a:t>最后是判断</a:t>
            </a:r>
            <a:r>
              <a:rPr lang="en-US" altLang="zh-CN">
                <a:solidFill>
                  <a:srgbClr val="555555"/>
                </a:solidFill>
                <a:effectLst/>
                <a:latin typeface="华文楷体" panose="02010600040101010101" charset="-122"/>
                <a:ea typeface="华文楷体" panose="02010600040101010101" charset="-122"/>
                <a:cs typeface="华文楷体" panose="02010600040101010101" charset="-122"/>
                <a:sym typeface="+mn-ea"/>
              </a:rPr>
              <a:t>slave</a:t>
            </a:r>
            <a:r>
              <a:rPr lang="zh-CN" altLang="en-US">
                <a:solidFill>
                  <a:srgbClr val="555555"/>
                </a:solidFill>
                <a:effectLst/>
                <a:latin typeface="华文楷体" panose="02010600040101010101" charset="-122"/>
                <a:ea typeface="华文楷体" panose="02010600040101010101" charset="-122"/>
                <a:cs typeface="华文楷体" panose="02010600040101010101" charset="-122"/>
                <a:sym typeface="+mn-ea"/>
              </a:rPr>
              <a:t>节点的运行</a:t>
            </a:r>
            <a:r>
              <a:rPr lang="en-US" altLang="zh-CN">
                <a:solidFill>
                  <a:srgbClr val="555555"/>
                </a:solidFill>
                <a:effectLst/>
                <a:latin typeface="华文楷体" panose="02010600040101010101" charset="-122"/>
                <a:ea typeface="华文楷体" panose="02010600040101010101" charset="-122"/>
                <a:cs typeface="华文楷体" panose="02010600040101010101" charset="-122"/>
                <a:sym typeface="+mn-ea"/>
              </a:rPr>
              <a:t>id</a:t>
            </a:r>
            <a:r>
              <a:rPr lang="zh-CN" altLang="en-US">
                <a:solidFill>
                  <a:srgbClr val="555555"/>
                </a:solidFill>
                <a:effectLst/>
                <a:latin typeface="华文楷体" panose="02010600040101010101" charset="-122"/>
                <a:ea typeface="华文楷体" panose="02010600040101010101" charset="-122"/>
                <a:cs typeface="华文楷体" panose="02010600040101010101" charset="-122"/>
                <a:sym typeface="+mn-ea"/>
              </a:rPr>
              <a:t>大小，越小优先级越高。</a:t>
            </a: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了解过Redis脑裂吗？</a:t>
            </a:r>
          </a:p>
        </p:txBody>
      </p:sp>
      <p:sp>
        <p:nvSpPr>
          <p:cNvPr id="6" name="文本框 5"/>
          <p:cNvSpPr txBox="1"/>
          <p:nvPr/>
        </p:nvSpPr>
        <p:spPr>
          <a:xfrm>
            <a:off x="431800" y="1770380"/>
            <a:ext cx="11040110" cy="3926205"/>
          </a:xfrm>
          <a:prstGeom prst="rect">
            <a:avLst/>
          </a:prstGeom>
          <a:noFill/>
        </p:spPr>
        <p:txBody>
          <a:bodyPr wrap="square">
            <a:noAutofit/>
          </a:bodyPr>
          <a:lstStyle/>
          <a:p>
            <a:pPr fontAlgn="auto">
              <a:lnSpc>
                <a:spcPct val="13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一个集群中的 master 恰好网络故障，导致与 sentinal 联系不上了，sentinal 把另一个 slave 提升为了 master。此时就存在两个 master了，就像大脑分裂了一样。</a:t>
            </a:r>
          </a:p>
          <a:p>
            <a:pPr fontAlgn="auto">
              <a:lnSpc>
                <a:spcPct val="13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30000"/>
              </a:lnSpc>
              <a:spcBef>
                <a:spcPts val="0"/>
              </a:spcBef>
              <a:spcAft>
                <a:spcPts val="0"/>
              </a:spcAft>
            </a:pPr>
            <a:r>
              <a:rPr lang="zh-CN"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脑裂产生问题：</a:t>
            </a:r>
          </a:p>
          <a:p>
            <a:pPr fontAlgn="auto">
              <a:lnSpc>
                <a:spcPct val="13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当我们发现的时候，停止掉其中的一个 master，手动切换成 slave，当它连接到提升后的 master 的时候，会开始同步数据，那么自己脑裂期间接收的写数据就被丢失了</a:t>
            </a:r>
            <a:endParaRPr 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30000"/>
              </a:lnSpc>
              <a:spcBef>
                <a:spcPts val="0"/>
              </a:spcBef>
              <a:spcAft>
                <a:spcPts val="0"/>
              </a:spcAft>
            </a:pPr>
            <a:endParaRPr 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30000"/>
              </a:lnSpc>
              <a:spcBef>
                <a:spcPts val="0"/>
              </a:spcBef>
              <a:spcAft>
                <a:spcPts val="0"/>
              </a:spcAft>
            </a:pPr>
            <a:r>
              <a:rPr lang="zh-CN"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解决方案：</a:t>
            </a:r>
          </a:p>
          <a:p>
            <a:pPr fontAlgn="auto">
              <a:lnSpc>
                <a:spcPct val="13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配置参数，如果发生集群脑裂，原先的master节点接收到客户端的写入请求会拒绝，就可以减少数据同步之后的数据丢失。</a:t>
            </a:r>
          </a:p>
          <a:p>
            <a:pPr fontAlgn="auto">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为什么要搭建Redis集群？</a:t>
            </a:r>
          </a:p>
        </p:txBody>
      </p:sp>
      <p:sp>
        <p:nvSpPr>
          <p:cNvPr id="6" name="文本框 5"/>
          <p:cNvSpPr txBox="1"/>
          <p:nvPr/>
        </p:nvSpPr>
        <p:spPr>
          <a:xfrm>
            <a:off x="365125" y="1828800"/>
            <a:ext cx="11040110" cy="3200400"/>
          </a:xfrm>
          <a:prstGeom prst="rect">
            <a:avLst/>
          </a:prstGeom>
          <a:noFill/>
        </p:spPr>
        <p:txBody>
          <a:bodyPr wrap="square">
            <a:noAutofit/>
          </a:bodyPr>
          <a:lstStyle/>
          <a:p>
            <a:pPr fontAlgn="auto">
              <a:spcBef>
                <a:spcPts val="0"/>
              </a:spcBef>
              <a:spcAft>
                <a:spcPts val="0"/>
              </a:spcAft>
            </a:pPr>
            <a:r>
              <a:rPr 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高并发写问题</a:t>
            </a:r>
          </a:p>
          <a:p>
            <a:pPr fontAlgn="auto">
              <a:spcBef>
                <a:spcPts val="0"/>
              </a:spcBef>
              <a:spcAft>
                <a:spcPts val="0"/>
              </a:spcAft>
            </a:pPr>
            <a:endParaRPr 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海量数据存储问题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Redis集群模式的工作原理？</a:t>
            </a:r>
          </a:p>
        </p:txBody>
      </p:sp>
      <p:sp>
        <p:nvSpPr>
          <p:cNvPr id="6" name="文本框 5"/>
          <p:cNvSpPr txBox="1"/>
          <p:nvPr/>
        </p:nvSpPr>
        <p:spPr>
          <a:xfrm>
            <a:off x="365125" y="1563370"/>
            <a:ext cx="11040110" cy="4887595"/>
          </a:xfrm>
          <a:prstGeom prst="rect">
            <a:avLst/>
          </a:prstGeom>
          <a:noFill/>
        </p:spPr>
        <p:txBody>
          <a:bodyPr wrap="square">
            <a:noAutofit/>
          </a:bodyPr>
          <a:lstStyle/>
          <a:p>
            <a:pPr indent="0">
              <a:lnSpc>
                <a:spcPct val="130000"/>
              </a:lnSpc>
              <a:buFont typeface="Arial" panose="020B0604020202020204" pitchFamily="34" charset="0"/>
              <a:buNone/>
            </a:pPr>
            <a:r>
              <a:rPr>
                <a:latin typeface="华文楷体" panose="02010600040101010101" charset="-122"/>
                <a:ea typeface="华文楷体" panose="02010600040101010101" charset="-122"/>
                <a:cs typeface="华文楷体" panose="02010600040101010101" charset="-122"/>
                <a:sym typeface="+mn-ea"/>
              </a:rPr>
              <a:t>Redis集群的工作原理主要</a:t>
            </a:r>
            <a:r>
              <a:rPr b="1">
                <a:latin typeface="华文楷体" panose="02010600040101010101" charset="-122"/>
                <a:ea typeface="华文楷体" panose="02010600040101010101" charset="-122"/>
                <a:cs typeface="华文楷体" panose="02010600040101010101" charset="-122"/>
                <a:sym typeface="+mn-ea"/>
              </a:rPr>
              <a:t>基于哈希槽的分配、主从复制、节点间的通信和故障转移机制</a:t>
            </a:r>
            <a:endParaRPr>
              <a:latin typeface="华文楷体" panose="02010600040101010101" charset="-122"/>
              <a:ea typeface="华文楷体" panose="02010600040101010101" charset="-122"/>
              <a:cs typeface="华文楷体" panose="02010600040101010101" charset="-122"/>
              <a:sym typeface="+mn-ea"/>
            </a:endParaRPr>
          </a:p>
          <a:p>
            <a:pPr indent="0">
              <a:lnSpc>
                <a:spcPct val="130000"/>
              </a:lnSpc>
              <a:buFont typeface="Arial" panose="020B0604020202020204" pitchFamily="34" charset="0"/>
              <a:buNone/>
            </a:pPr>
            <a:endParaRPr>
              <a:latin typeface="华文楷体" panose="02010600040101010101" charset="-122"/>
              <a:ea typeface="华文楷体" panose="02010600040101010101" charset="-122"/>
              <a:cs typeface="华文楷体" panose="02010600040101010101" charset="-122"/>
              <a:sym typeface="+mn-ea"/>
            </a:endParaRPr>
          </a:p>
          <a:p>
            <a:pPr indent="0">
              <a:lnSpc>
                <a:spcPct val="130000"/>
              </a:lnSpc>
              <a:buFont typeface="Arial" panose="020B0604020202020204" pitchFamily="34" charset="0"/>
              <a:buNone/>
            </a:pPr>
            <a:r>
              <a:rPr b="1">
                <a:latin typeface="华文楷体" panose="02010600040101010101" charset="-122"/>
                <a:ea typeface="华文楷体" panose="02010600040101010101" charset="-122"/>
                <a:cs typeface="华文楷体" panose="02010600040101010101" charset="-122"/>
                <a:sym typeface="+mn-ea"/>
              </a:rPr>
              <a:t>哈希槽</a:t>
            </a:r>
            <a:r>
              <a:rPr lang="zh-CN" b="1">
                <a:latin typeface="华文楷体" panose="02010600040101010101" charset="-122"/>
                <a:ea typeface="华文楷体" panose="02010600040101010101" charset="-122"/>
                <a:cs typeface="华文楷体" panose="02010600040101010101" charset="-122"/>
                <a:sym typeface="+mn-ea"/>
              </a:rPr>
              <a:t>：</a:t>
            </a:r>
            <a:r>
              <a:rPr>
                <a:latin typeface="华文楷体" panose="02010600040101010101" charset="-122"/>
                <a:ea typeface="华文楷体" panose="02010600040101010101" charset="-122"/>
                <a:cs typeface="华文楷体" panose="02010600040101010101" charset="-122"/>
                <a:sym typeface="+mn-ea"/>
              </a:rPr>
              <a:t>Redis集群将所有数据分布到16384个哈希槽中。每个key通过CRC16算法计算出一个结果，然后对16384求余数，得到该key所属的哈希槽编号。这些哈希槽被分配给不同的节点，实现了数据的分布式存储</a:t>
            </a:r>
          </a:p>
          <a:p>
            <a:pPr indent="0">
              <a:lnSpc>
                <a:spcPct val="130000"/>
              </a:lnSpc>
              <a:buFont typeface="Arial" panose="020B0604020202020204" pitchFamily="34" charset="0"/>
              <a:buNone/>
            </a:pPr>
            <a:endParaRPr>
              <a:latin typeface="华文楷体" panose="02010600040101010101" charset="-122"/>
              <a:ea typeface="华文楷体" panose="02010600040101010101" charset="-122"/>
              <a:cs typeface="华文楷体" panose="02010600040101010101" charset="-122"/>
              <a:sym typeface="+mn-ea"/>
            </a:endParaRPr>
          </a:p>
          <a:p>
            <a:pPr indent="0">
              <a:lnSpc>
                <a:spcPct val="130000"/>
              </a:lnSpc>
              <a:buFont typeface="Arial" panose="020B0604020202020204" pitchFamily="34" charset="0"/>
              <a:buNone/>
            </a:pPr>
            <a:r>
              <a:rPr b="1">
                <a:latin typeface="华文楷体" panose="02010600040101010101" charset="-122"/>
                <a:ea typeface="华文楷体" panose="02010600040101010101" charset="-122"/>
                <a:cs typeface="华文楷体" panose="02010600040101010101" charset="-122"/>
                <a:sym typeface="+mn-ea"/>
              </a:rPr>
              <a:t>主从复制</a:t>
            </a:r>
            <a:r>
              <a:rPr>
                <a:latin typeface="华文楷体" panose="02010600040101010101" charset="-122"/>
                <a:ea typeface="华文楷体" panose="02010600040101010101" charset="-122"/>
                <a:cs typeface="华文楷体" panose="02010600040101010101" charset="-122"/>
                <a:sym typeface="+mn-ea"/>
              </a:rPr>
              <a:t>： 为了提高可用性，每个主节点都有一个或多个从节点。当主节点发生故障时，可以从从节点进行故障转移，保证服务的连续性</a:t>
            </a:r>
          </a:p>
          <a:p>
            <a:pPr indent="0">
              <a:lnSpc>
                <a:spcPct val="130000"/>
              </a:lnSpc>
              <a:buFont typeface="Arial" panose="020B0604020202020204" pitchFamily="34" charset="0"/>
              <a:buNone/>
            </a:pPr>
            <a:endParaRPr>
              <a:latin typeface="华文楷体" panose="02010600040101010101" charset="-122"/>
              <a:ea typeface="华文楷体" panose="02010600040101010101" charset="-122"/>
              <a:cs typeface="华文楷体" panose="02010600040101010101" charset="-122"/>
              <a:sym typeface="+mn-ea"/>
            </a:endParaRPr>
          </a:p>
          <a:p>
            <a:pPr indent="0">
              <a:lnSpc>
                <a:spcPct val="130000"/>
              </a:lnSpc>
              <a:buFont typeface="Arial" panose="020B0604020202020204" pitchFamily="34" charset="0"/>
              <a:buNone/>
            </a:pPr>
            <a:r>
              <a:rPr b="1">
                <a:latin typeface="华文楷体" panose="02010600040101010101" charset="-122"/>
                <a:ea typeface="华文楷体" panose="02010600040101010101" charset="-122"/>
                <a:cs typeface="华文楷体" panose="02010600040101010101" charset="-122"/>
                <a:sym typeface="+mn-ea"/>
              </a:rPr>
              <a:t>节点间的通信</a:t>
            </a:r>
            <a:r>
              <a:rPr>
                <a:latin typeface="华文楷体" panose="02010600040101010101" charset="-122"/>
                <a:ea typeface="华文楷体" panose="02010600040101010101" charset="-122"/>
                <a:cs typeface="华文楷体" panose="02010600040101010101" charset="-122"/>
                <a:sym typeface="+mn-ea"/>
              </a:rPr>
              <a:t>： 节点间通过Gossip协议进行信息传播，确保所有节点都知道集群的状态和其他节点的信息。这种通信方式有助于在节点间同步信息和处理故障转移。‌</a:t>
            </a:r>
          </a:p>
          <a:p>
            <a:pPr indent="0">
              <a:lnSpc>
                <a:spcPct val="130000"/>
              </a:lnSpc>
              <a:buFont typeface="Arial" panose="020B0604020202020204" pitchFamily="34" charset="0"/>
              <a:buNone/>
            </a:pPr>
            <a:endParaRPr>
              <a:latin typeface="华文楷体" panose="02010600040101010101" charset="-122"/>
              <a:ea typeface="华文楷体" panose="02010600040101010101" charset="-122"/>
              <a:cs typeface="华文楷体" panose="02010600040101010101" charset="-122"/>
              <a:sym typeface="+mn-ea"/>
            </a:endParaRPr>
          </a:p>
          <a:p>
            <a:pPr indent="0">
              <a:lnSpc>
                <a:spcPct val="130000"/>
              </a:lnSpc>
              <a:buFont typeface="Arial" panose="020B0604020202020204" pitchFamily="34" charset="0"/>
              <a:buNone/>
            </a:pPr>
            <a:r>
              <a:rPr b="1">
                <a:latin typeface="华文楷体" panose="02010600040101010101" charset="-122"/>
                <a:ea typeface="华文楷体" panose="02010600040101010101" charset="-122"/>
                <a:cs typeface="华文楷体" panose="02010600040101010101" charset="-122"/>
                <a:sym typeface="+mn-ea"/>
              </a:rPr>
              <a:t>故障转移和扩容缩容</a:t>
            </a:r>
            <a:r>
              <a:rPr>
                <a:latin typeface="华文楷体" panose="02010600040101010101" charset="-122"/>
                <a:ea typeface="华文楷体" panose="02010600040101010101" charset="-122"/>
                <a:cs typeface="华文楷体" panose="02010600040101010101" charset="-122"/>
                <a:sym typeface="+mn-ea"/>
              </a:rPr>
              <a:t>： 当某个主节点宕机时，其从节点可以接管成为新的主节点，从而自动进行故障转移。此外，当需要扩容或缩容时，可以通过添加或移除节点，并重新分配哈希槽来实现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Redis内存用完了会发生什么？</a:t>
            </a:r>
          </a:p>
        </p:txBody>
      </p:sp>
      <p:sp>
        <p:nvSpPr>
          <p:cNvPr id="6" name="文本框 5"/>
          <p:cNvSpPr txBox="1"/>
          <p:nvPr/>
        </p:nvSpPr>
        <p:spPr>
          <a:xfrm>
            <a:off x="365125" y="1828800"/>
            <a:ext cx="11040110" cy="1971040"/>
          </a:xfrm>
          <a:prstGeom prst="rect">
            <a:avLst/>
          </a:prstGeom>
          <a:noFill/>
        </p:spPr>
        <p:txBody>
          <a:bodyPr wrap="square">
            <a:noAutofit/>
          </a:bodyPr>
          <a:lstStyle/>
          <a:p>
            <a:pPr fontAlgn="auto">
              <a:spcBef>
                <a:spcPts val="0"/>
              </a:spcBef>
              <a:spcAft>
                <a:spcPts val="0"/>
              </a:spcAft>
            </a:pPr>
            <a:r>
              <a:rPr 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根据配置决定的，如果配置不让写，就报错，否则就删除部分数据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说说Redis Key的过期策略？</a:t>
            </a:r>
          </a:p>
        </p:txBody>
      </p:sp>
      <p:sp>
        <p:nvSpPr>
          <p:cNvPr id="6" name="文本框 5"/>
          <p:cNvSpPr txBox="1"/>
          <p:nvPr/>
        </p:nvSpPr>
        <p:spPr>
          <a:xfrm>
            <a:off x="365125" y="1828800"/>
            <a:ext cx="11040110" cy="4149090"/>
          </a:xfrm>
          <a:prstGeom prst="rect">
            <a:avLst/>
          </a:prstGeom>
          <a:noFill/>
        </p:spPr>
        <p:txBody>
          <a:bodyPr wrap="square">
            <a:noAutofit/>
          </a:bodyPr>
          <a:lstStyle/>
          <a:p>
            <a:pPr fontAlgn="auto">
              <a:spcBef>
                <a:spcPts val="0"/>
              </a:spcBef>
              <a:spcAft>
                <a:spcPts val="0"/>
              </a:spcAft>
            </a:pPr>
            <a:r>
              <a:rPr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定期删除+惰性删除</a:t>
            </a:r>
          </a:p>
          <a:p>
            <a:pPr fontAlgn="auto">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2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定期删除</a:t>
            </a:r>
            <a:r>
              <a:rPr 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t>
            </a: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指的是 redis 默认是每隔 100ms 就随机抽取一些设置了过期时间的 key，检查其是否过 期，如果过期就删除。 </a:t>
            </a:r>
          </a:p>
          <a:p>
            <a:pPr fontAlgn="auto">
              <a:lnSpc>
                <a:spcPct val="12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2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假设 redis 里放了 10w 个 key，都设置了过期时间，你每隔几百毫秒，就检查 10w 个 key，那 redis 基 本上就死了，cpu 负载会很高的，消耗在你的检查过期 key 上了。注意，这里可不是每隔 100ms 就遍历 所有的设置过期时间的 key，那样就是一场性能上的灾难。</a:t>
            </a:r>
          </a:p>
          <a:p>
            <a:pPr fontAlgn="auto">
              <a:lnSpc>
                <a:spcPct val="12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2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但是问题是，定期删除可能会导致很多过期 key 到了时间并没有被删除掉，那咋整呢？所以就是惰性删除 了。这就是说，在你获取某个 key 的时候，redis 会检查一下 ，这个 key 如果设置了过期时间那么是否 过期了？如果过期了此时就会删除，不会给你返回任何东西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说说Redis的内存淘汰策略</a:t>
            </a:r>
          </a:p>
        </p:txBody>
      </p:sp>
      <p:sp>
        <p:nvSpPr>
          <p:cNvPr id="6" name="文本框 5"/>
          <p:cNvSpPr txBox="1"/>
          <p:nvPr/>
        </p:nvSpPr>
        <p:spPr>
          <a:xfrm>
            <a:off x="365125" y="1828800"/>
            <a:ext cx="11040110" cy="3716020"/>
          </a:xfrm>
          <a:prstGeom prst="rect">
            <a:avLst/>
          </a:prstGeom>
          <a:noFill/>
        </p:spPr>
        <p:txBody>
          <a:bodyPr wrap="square">
            <a:noAutofit/>
          </a:bodyPr>
          <a:lstStyle/>
          <a:p>
            <a:pPr fontAlgn="auto">
              <a:lnSpc>
                <a:spcPct val="15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sym typeface="+mn-ea"/>
              </a:rPr>
              <a:t>当内存不足以容纳新写入数据时</a:t>
            </a:r>
            <a:r>
              <a:rPr 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sym typeface="+mn-ea"/>
              </a:rPr>
              <a:t>，</a:t>
            </a: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redis 内存淘汰机制有以下几个：</a:t>
            </a:r>
          </a:p>
          <a:p>
            <a:pPr fontAlgn="auto">
              <a:lnSpc>
                <a:spcPct val="15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5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noeviction: 新写入操作会报错， </a:t>
            </a:r>
          </a:p>
          <a:p>
            <a:pPr fontAlgn="auto">
              <a:lnSpc>
                <a:spcPct val="15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allkeys-lru：在键空间中， 移除</a:t>
            </a:r>
            <a:r>
              <a:rPr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最近最少使用</a:t>
            </a: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的 key（这个是最常用的）。</a:t>
            </a:r>
          </a:p>
          <a:p>
            <a:pPr fontAlgn="auto">
              <a:lnSpc>
                <a:spcPct val="15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allkeys-random：在键空间中，</a:t>
            </a:r>
            <a:r>
              <a:rPr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随机移除</a:t>
            </a: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某个 key，这个一般没人用</a:t>
            </a:r>
          </a:p>
          <a:p>
            <a:pPr fontAlgn="auto">
              <a:lnSpc>
                <a:spcPct val="15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volatile-lru：在设置了过期时间的键空间中，移除最近最少使用的key。</a:t>
            </a:r>
          </a:p>
          <a:p>
            <a:pPr fontAlgn="auto">
              <a:lnSpc>
                <a:spcPct val="15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volatile-random：在设置了过期时间的键空间中，随机移除某个 key。 </a:t>
            </a:r>
          </a:p>
          <a:p>
            <a:pPr fontAlgn="auto">
              <a:lnSpc>
                <a:spcPct val="15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volatile-ttl：在设置了过期时间的键空间中，有更早过期时间的key 优先移除。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说说Redis怎么实现分布式锁？</a:t>
            </a:r>
          </a:p>
        </p:txBody>
      </p:sp>
      <p:sp>
        <p:nvSpPr>
          <p:cNvPr id="6" name="文本框 5"/>
          <p:cNvSpPr txBox="1"/>
          <p:nvPr/>
        </p:nvSpPr>
        <p:spPr>
          <a:xfrm>
            <a:off x="431165" y="1828800"/>
            <a:ext cx="11040110" cy="3200400"/>
          </a:xfrm>
          <a:prstGeom prst="rect">
            <a:avLst/>
          </a:prstGeom>
          <a:noFill/>
        </p:spPr>
        <p:txBody>
          <a:bodyPr wrap="square">
            <a:noAutofit/>
          </a:bodyPr>
          <a:lstStyle/>
          <a:p>
            <a:pPr fontAlgn="auto">
              <a:spcBef>
                <a:spcPts val="0"/>
              </a:spcBef>
              <a:spcAft>
                <a:spcPts val="0"/>
              </a:spcAft>
            </a:pPr>
            <a:r>
              <a:rPr 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setnx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Redis的setnx实现分布式锁有什么缺陷？</a:t>
            </a:r>
          </a:p>
        </p:txBody>
      </p:sp>
      <p:sp>
        <p:nvSpPr>
          <p:cNvPr id="6" name="文本框 5"/>
          <p:cNvSpPr txBox="1"/>
          <p:nvPr/>
        </p:nvSpPr>
        <p:spPr>
          <a:xfrm>
            <a:off x="365125" y="1828800"/>
            <a:ext cx="11040110" cy="3538220"/>
          </a:xfrm>
          <a:prstGeom prst="rect">
            <a:avLst/>
          </a:prstGeom>
          <a:noFill/>
        </p:spPr>
        <p:txBody>
          <a:bodyPr wrap="square">
            <a:noAutofit/>
          </a:bodyPr>
          <a:lstStyle/>
          <a:p>
            <a:pPr fontAlgn="auto">
              <a:lnSpc>
                <a:spcPct val="140000"/>
              </a:lnSpc>
              <a:spcBef>
                <a:spcPts val="0"/>
              </a:spcBef>
              <a:spcAft>
                <a:spcPts val="0"/>
              </a:spcAft>
            </a:pPr>
            <a:r>
              <a:rPr 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加锁和设置过期时间不是原子操作</a:t>
            </a:r>
          </a:p>
          <a:p>
            <a:pPr fontAlgn="auto">
              <a:lnSpc>
                <a:spcPct val="140000"/>
              </a:lnSpc>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2.</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锁续期问题</a:t>
            </a:r>
          </a:p>
          <a:p>
            <a:pPr fontAlgn="auto">
              <a:lnSpc>
                <a:spcPct val="140000"/>
              </a:lnSpc>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40000"/>
              </a:lnSpc>
              <a:spcBef>
                <a:spcPts val="0"/>
              </a:spcBef>
              <a:spcAft>
                <a:spcPts val="0"/>
              </a:spcAft>
            </a:pPr>
            <a:r>
              <a:rPr lang="zh-CN" altLang="en-US"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解决方案：</a:t>
            </a:r>
          </a:p>
          <a:p>
            <a:pPr fontAlgn="auto">
              <a:lnSpc>
                <a:spcPct val="140000"/>
              </a:lnSpc>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使用Lua脚本(包含SETNX + EXPIRE两条指令)</a:t>
            </a:r>
          </a:p>
          <a:p>
            <a:pPr fontAlgn="auto">
              <a:lnSpc>
                <a:spcPct val="140000"/>
              </a:lnSpc>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SET的扩展命令（SET EX PX NX）</a:t>
            </a:r>
          </a:p>
          <a:p>
            <a:pPr fontAlgn="auto">
              <a:lnSpc>
                <a:spcPct val="140000"/>
              </a:lnSpc>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开源框架:Redisson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Redis做分布式锁为什么需要用lua脚本来完成解锁操作？</a:t>
            </a:r>
          </a:p>
        </p:txBody>
      </p:sp>
      <p:sp>
        <p:nvSpPr>
          <p:cNvPr id="6" name="文本框 5"/>
          <p:cNvSpPr txBox="1"/>
          <p:nvPr/>
        </p:nvSpPr>
        <p:spPr>
          <a:xfrm>
            <a:off x="365125" y="1828800"/>
            <a:ext cx="11040110" cy="3637915"/>
          </a:xfrm>
          <a:prstGeom prst="rect">
            <a:avLst/>
          </a:prstGeom>
          <a:noFill/>
        </p:spPr>
        <p:txBody>
          <a:bodyPr wrap="square">
            <a:noAutofit/>
          </a:bodyPr>
          <a:lstStyle/>
          <a:p>
            <a:pPr fontAlgn="auto">
              <a:lnSpc>
                <a:spcPct val="14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考虑这样的时序:</a:t>
            </a:r>
          </a:p>
          <a:p>
            <a:pPr fontAlgn="auto">
              <a:lnSpc>
                <a:spcPct val="14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 如持有锁的线程A,业务完成后在进入解锁操作前突然时间到了，自动过期了。</a:t>
            </a:r>
          </a:p>
          <a:p>
            <a:pPr fontAlgn="auto">
              <a:lnSpc>
                <a:spcPct val="14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2. 此时别的线程B获取了锁</a:t>
            </a:r>
          </a:p>
          <a:p>
            <a:pPr fontAlgn="auto">
              <a:lnSpc>
                <a:spcPct val="14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3. 原先持有锁的线程A开始执行解锁操作,随手删除了锁。</a:t>
            </a:r>
          </a:p>
          <a:p>
            <a:pPr fontAlgn="auto">
              <a:lnSpc>
                <a:spcPct val="14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4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4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所以我们要确保锁的删除合法有效(如删除判断持有者ID）,然后再删除</a:t>
            </a:r>
          </a:p>
          <a:p>
            <a:pPr fontAlgn="auto">
              <a:lnSpc>
                <a:spcPct val="14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把检查锁是不是本线程持有的逻辑和删除锁逻辑这连个操作放到一个 lua 脚本中，保证原子性,利用redis的单线程特性, 防止高并发时误删其他线程写入的锁。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你们项目中用到分布式锁了吗？</a:t>
            </a:r>
          </a:p>
        </p:txBody>
      </p:sp>
      <p:sp>
        <p:nvSpPr>
          <p:cNvPr id="6" name="文本框 5"/>
          <p:cNvSpPr txBox="1"/>
          <p:nvPr/>
        </p:nvSpPr>
        <p:spPr>
          <a:xfrm>
            <a:off x="365125" y="1828800"/>
            <a:ext cx="11040110" cy="3200400"/>
          </a:xfrm>
          <a:prstGeom prst="rect">
            <a:avLst/>
          </a:prstGeom>
          <a:noFill/>
        </p:spPr>
        <p:txBody>
          <a:bodyPr wrap="square">
            <a:noAutofit/>
          </a:bodyPr>
          <a:lstStyle/>
          <a:p>
            <a:pPr fontAlgn="auto">
              <a:spcBef>
                <a:spcPts val="0"/>
              </a:spcBef>
              <a:spcAft>
                <a:spcPts val="0"/>
              </a:spcAft>
            </a:pPr>
            <a:r>
              <a:rPr 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根据业务回答，比如防止重复下单、非</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xxl-job</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定时任务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Redis在海量Key中找某个已知前缀开头的KEY，怎么办？</a:t>
            </a:r>
          </a:p>
        </p:txBody>
      </p:sp>
      <p:sp>
        <p:nvSpPr>
          <p:cNvPr id="6" name="文本框 5"/>
          <p:cNvSpPr txBox="1"/>
          <p:nvPr/>
        </p:nvSpPr>
        <p:spPr>
          <a:xfrm>
            <a:off x="365125" y="1828800"/>
            <a:ext cx="11040110" cy="3200400"/>
          </a:xfrm>
          <a:prstGeom prst="rect">
            <a:avLst/>
          </a:prstGeom>
          <a:noFill/>
        </p:spPr>
        <p:txBody>
          <a:bodyPr wrap="square">
            <a:noAutofit/>
          </a:bodyPr>
          <a:lstStyle/>
          <a:p>
            <a:pPr fontAlgn="auto">
              <a:lnSpc>
                <a:spcPct val="140000"/>
              </a:lnSpc>
              <a:spcBef>
                <a:spcPts val="0"/>
              </a:spcBef>
              <a:spcAft>
                <a:spcPts val="0"/>
              </a:spcAft>
            </a:pPr>
            <a:r>
              <a:rPr 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陷阱：让你说</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keys</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命令</a:t>
            </a:r>
          </a:p>
          <a:p>
            <a:pPr fontAlgn="auto">
              <a:lnSpc>
                <a:spcPct val="140000"/>
              </a:lnSpc>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由于redis是单线程的，而keys是遍历查询，每个数据都会遍历一次，所以keys指令去查找大量数据会导致线程阻塞一段时间，线上服务会停顿，直到指令执行完毕，服务才能恢复。</a:t>
            </a:r>
          </a:p>
          <a:p>
            <a:pPr fontAlgn="auto">
              <a:lnSpc>
                <a:spcPct val="140000"/>
              </a:lnSpc>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40000"/>
              </a:lnSpc>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用</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scan</a:t>
            </a:r>
          </a:p>
          <a:p>
            <a:pPr fontAlgn="auto">
              <a:lnSpc>
                <a:spcPct val="140000"/>
              </a:lnSpc>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scan指令可以无阻塞的提取出指定模式的key列表，但是会有一定的重复概率，在客户端做一次去重就可以了，但是整体所花费的时间会比直接用keys指令长。</a:t>
            </a: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Redis如何实现延迟队列？</a:t>
            </a:r>
          </a:p>
        </p:txBody>
      </p:sp>
      <p:sp>
        <p:nvSpPr>
          <p:cNvPr id="6" name="文本框 5"/>
          <p:cNvSpPr txBox="1"/>
          <p:nvPr/>
        </p:nvSpPr>
        <p:spPr>
          <a:xfrm>
            <a:off x="365125" y="1828800"/>
            <a:ext cx="11040110" cy="3200400"/>
          </a:xfrm>
          <a:prstGeom prst="rect">
            <a:avLst/>
          </a:prstGeom>
          <a:noFill/>
        </p:spPr>
        <p:txBody>
          <a:bodyPr wrap="square">
            <a:noAutofit/>
          </a:bodyPr>
          <a:lstStyle/>
          <a:p>
            <a:pPr fontAlgn="auto">
              <a:spcBef>
                <a:spcPts val="0"/>
              </a:spcBef>
              <a:spcAft>
                <a:spcPts val="0"/>
              </a:spcAft>
            </a:pPr>
            <a:r>
              <a:rPr 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利用</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zset</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数据结构，执行时间的时间戳当</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score</a:t>
            </a:r>
          </a:p>
          <a:p>
            <a:pPr fontAlgn="auto">
              <a:spcBef>
                <a:spcPts val="0"/>
              </a:spcBef>
              <a:spcAft>
                <a:spcPts val="0"/>
              </a:spcAft>
            </a:pPr>
            <a:endPar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不停的用当前时间去扫描这个结构，如果有小于等于当前时间的，就表示执行时间到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Redis的大Key如何处理？</a:t>
            </a:r>
          </a:p>
        </p:txBody>
      </p:sp>
      <p:sp>
        <p:nvSpPr>
          <p:cNvPr id="6" name="文本框 5"/>
          <p:cNvSpPr txBox="1"/>
          <p:nvPr/>
        </p:nvSpPr>
        <p:spPr>
          <a:xfrm>
            <a:off x="365125" y="1828800"/>
            <a:ext cx="11040110" cy="3820160"/>
          </a:xfrm>
          <a:prstGeom prst="rect">
            <a:avLst/>
          </a:prstGeom>
          <a:noFill/>
        </p:spPr>
        <p:txBody>
          <a:bodyPr wrap="square">
            <a:noAutofit/>
          </a:bodyPr>
          <a:lstStyle/>
          <a:p>
            <a:pPr fontAlgn="auto">
              <a:lnSpc>
                <a:spcPct val="13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Redis大Key问题通常指的是单个键存储的数据量巨大，可能会导致性能问题，如内存使用过高、读写效率降低、网络传输问题等</a:t>
            </a:r>
          </a:p>
          <a:p>
            <a:pPr fontAlgn="auto">
              <a:lnSpc>
                <a:spcPct val="130000"/>
              </a:lnSpc>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30000"/>
              </a:lnSpc>
              <a:spcBef>
                <a:spcPts val="0"/>
              </a:spcBef>
              <a:spcAft>
                <a:spcPts val="0"/>
              </a:spcAft>
            </a:pPr>
            <a:r>
              <a:rPr lang="zh-CN"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解决方案：</a:t>
            </a: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3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分割数据：使用哈希（hash）、列表（list）、集合（set）、有序集合（sorted set）等数据结构，将大对象分割成多个小对象来存储。</a:t>
            </a:r>
          </a:p>
          <a:p>
            <a:pPr fontAlgn="auto">
              <a:lnSpc>
                <a:spcPct val="13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数据压缩：对数据进行压缩，减少存储空间。</a:t>
            </a:r>
          </a:p>
          <a:p>
            <a:pPr fontAlgn="auto">
              <a:lnSpc>
                <a:spcPct val="130000"/>
              </a:lnSpc>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使用时间分区：将数据按时间分区存储，将热数据和冷数据分开存储。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en-US" altLang="zh-CN" dirty="0"/>
              <a:t>Redis</a:t>
            </a:r>
            <a:r>
              <a:rPr kumimoji="1" dirty="0"/>
              <a:t>面试题</a:t>
            </a:r>
          </a:p>
        </p:txBody>
      </p:sp>
      <p:sp>
        <p:nvSpPr>
          <p:cNvPr id="4" name="文本占位符 3"/>
          <p:cNvSpPr>
            <a:spLocks noGrp="1"/>
          </p:cNvSpPr>
          <p:nvPr>
            <p:ph type="body" sz="quarter" idx="10"/>
          </p:nvPr>
        </p:nvSpPr>
        <p:spPr>
          <a:xfrm>
            <a:off x="365440" y="940716"/>
            <a:ext cx="10749599" cy="517190"/>
          </a:xfrm>
        </p:spPr>
        <p:txBody>
          <a:bodyPr/>
          <a:lstStyle/>
          <a:p>
            <a:r>
              <a:rPr kumimoji="1" dirty="0"/>
              <a:t>你们生产环境Redis是怎么部署的？</a:t>
            </a:r>
          </a:p>
        </p:txBody>
      </p:sp>
      <p:sp>
        <p:nvSpPr>
          <p:cNvPr id="6" name="文本框 5"/>
          <p:cNvSpPr txBox="1"/>
          <p:nvPr/>
        </p:nvSpPr>
        <p:spPr>
          <a:xfrm>
            <a:off x="365125" y="1828800"/>
            <a:ext cx="11040110" cy="1599565"/>
          </a:xfrm>
          <a:prstGeom prst="rect">
            <a:avLst/>
          </a:prstGeom>
          <a:noFill/>
        </p:spPr>
        <p:txBody>
          <a:bodyPr wrap="square">
            <a:noAutofit/>
          </a:bodyPr>
          <a:lstStyle/>
          <a:p>
            <a:pPr fontAlgn="auto">
              <a:lnSpc>
                <a:spcPct val="130000"/>
              </a:lnSpc>
              <a:spcBef>
                <a:spcPts val="0"/>
              </a:spcBef>
              <a:spcAft>
                <a:spcPts val="0"/>
              </a:spcAft>
            </a:pPr>
            <a:r>
              <a:rPr 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单节点</a:t>
            </a:r>
          </a:p>
          <a:p>
            <a:pPr fontAlgn="auto">
              <a:lnSpc>
                <a:spcPct val="130000"/>
              </a:lnSpc>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2.</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主从（一主两从）</a:t>
            </a:r>
          </a:p>
          <a:p>
            <a:pPr fontAlgn="auto">
              <a:lnSpc>
                <a:spcPct val="130000"/>
              </a:lnSpc>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3.</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主从</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哨兵（一主两从三哨兵）</a:t>
            </a:r>
          </a:p>
          <a:p>
            <a:pPr fontAlgn="auto">
              <a:lnSpc>
                <a:spcPct val="130000"/>
              </a:lnSpc>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4.</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分片集群（不建议）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12c42a1e-b098-4334-8256-e5821a5f84d7"/>
  <p:tag name="COMMONDATA" val="eyJoZGlkIjoiZThmNjAzMWJlZjFkMmQwODUwMTJkYzE2ODFiYmFmYTcifQ=="/>
</p:tagLst>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581</TotalTime>
  <Words>2347</Words>
  <Application>Microsoft Office PowerPoint</Application>
  <PresentationFormat>宽屏</PresentationFormat>
  <Paragraphs>247</Paragraphs>
  <Slides>31</Slides>
  <Notes>0</Notes>
  <HiddenSlides>0</HiddenSlides>
  <MMClips>0</MMClips>
  <ScaleCrop>false</ScaleCrop>
  <HeadingPairs>
    <vt:vector size="6" baseType="variant">
      <vt:variant>
        <vt:lpstr>已用的字体</vt:lpstr>
      </vt:variant>
      <vt:variant>
        <vt:i4>12</vt:i4>
      </vt:variant>
      <vt:variant>
        <vt:lpstr>主题</vt:lpstr>
      </vt:variant>
      <vt:variant>
        <vt:i4>7</vt:i4>
      </vt:variant>
      <vt:variant>
        <vt:lpstr>幻灯片标题</vt:lpstr>
      </vt:variant>
      <vt:variant>
        <vt:i4>31</vt:i4>
      </vt:variant>
    </vt:vector>
  </HeadingPairs>
  <TitlesOfParts>
    <vt:vector size="50" baseType="lpstr">
      <vt:lpstr>Alibaba PuHuiTi B</vt:lpstr>
      <vt:lpstr>Alibaba PuHuiTi M</vt:lpstr>
      <vt:lpstr>Alibaba PuHuiTi R</vt:lpstr>
      <vt:lpstr>阿里巴巴普惠体</vt:lpstr>
      <vt:lpstr>等线</vt:lpstr>
      <vt:lpstr>黑体</vt:lpstr>
      <vt:lpstr>华文楷体</vt:lpstr>
      <vt:lpstr>Arial</vt:lpstr>
      <vt:lpstr>Calibri</vt:lpstr>
      <vt:lpstr>Segoe UI</vt:lpstr>
      <vt:lpstr>Verdana</vt:lpstr>
      <vt:lpstr>Wingdings</vt:lpstr>
      <vt:lpstr>封面2</vt:lpstr>
      <vt:lpstr>目录</vt:lpstr>
      <vt:lpstr>学习目标</vt:lpstr>
      <vt:lpstr>章节页版式（一级+二级标题）</vt:lpstr>
      <vt:lpstr>章节页版式（一级标题）</vt:lpstr>
      <vt:lpstr>正文设计方案</vt:lpstr>
      <vt:lpstr>5_结束页设计方案</vt:lpstr>
      <vt:lpstr>Redis面试题</vt:lpstr>
      <vt:lpstr>Redis面试题</vt:lpstr>
      <vt:lpstr>Redis面试题</vt:lpstr>
      <vt:lpstr>Redis面试题</vt:lpstr>
      <vt:lpstr>你在redis中用得到string类型和hash类似时怎么选择</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lpstr>Redis面试题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hy chen</cp:lastModifiedBy>
  <cp:revision>1683</cp:revision>
  <dcterms:created xsi:type="dcterms:W3CDTF">2020-03-31T02:23:00Z</dcterms:created>
  <dcterms:modified xsi:type="dcterms:W3CDTF">2025-10-15T10:20:11Z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5B7BA5D51A5A4D738150DEB1F7D88829</vt:lpwstr>
  </property>
  <property fmtid="{D5CDD505-2E9C-101B-9397-08002B2CF9AE}" pid="3" name="KSOProductBuildVer">
    <vt:lpwstr>2052-12.1.0.17827</vt:lpwstr>
  </property>
</Properties>
</file>