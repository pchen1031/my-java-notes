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5" r:id="rId8"/>
  </p:sldMasterIdLst>
  <p:notesMasterIdLst>
    <p:notesMasterId r:id="rId39"/>
  </p:notesMasterIdLst>
  <p:handoutMasterIdLst>
    <p:handoutMasterId r:id="rId40"/>
  </p:handoutMasterIdLst>
  <p:sldIdLst>
    <p:sldId id="641" r:id="rId9"/>
    <p:sldId id="467" r:id="rId10"/>
    <p:sldId id="951" r:id="rId11"/>
    <p:sldId id="952" r:id="rId12"/>
    <p:sldId id="1153" r:id="rId13"/>
    <p:sldId id="953" r:id="rId14"/>
    <p:sldId id="1117" r:id="rId15"/>
    <p:sldId id="965" r:id="rId16"/>
    <p:sldId id="1178" r:id="rId17"/>
    <p:sldId id="1118" r:id="rId18"/>
    <p:sldId id="976" r:id="rId19"/>
    <p:sldId id="954" r:id="rId20"/>
    <p:sldId id="1027" r:id="rId21"/>
    <p:sldId id="1053" r:id="rId22"/>
    <p:sldId id="1138" r:id="rId23"/>
    <p:sldId id="1104" r:id="rId24"/>
    <p:sldId id="1177" r:id="rId25"/>
    <p:sldId id="955" r:id="rId26"/>
    <p:sldId id="1105" r:id="rId27"/>
    <p:sldId id="956" r:id="rId28"/>
    <p:sldId id="957" r:id="rId29"/>
    <p:sldId id="958" r:id="rId30"/>
    <p:sldId id="1009" r:id="rId31"/>
    <p:sldId id="968" r:id="rId32"/>
    <p:sldId id="969" r:id="rId33"/>
    <p:sldId id="970" r:id="rId34"/>
    <p:sldId id="971" r:id="rId35"/>
    <p:sldId id="972" r:id="rId36"/>
    <p:sldId id="1137" r:id="rId37"/>
    <p:sldId id="264" r:id="rId38"/>
  </p:sldIdLst>
  <p:sldSz cx="12192000" cy="6858000"/>
  <p:notesSz cx="6858000" cy="9144000"/>
  <p:custDataLst>
    <p:tags r:id="rId4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李 晓宇" initials="李" lastIdx="1" clrIdx="0"/>
  <p:cmAuthor id="2" name="作者" initials="A" lastIdx="0" clrIdx="1"/>
  <p:cmAuthor id="3" name="sbihc" initials="s" lastIdx="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33"/>
    <a:srgbClr val="B70006"/>
    <a:srgbClr val="49504F"/>
    <a:srgbClr val="FFFFE4"/>
    <a:srgbClr val="AD2B26"/>
    <a:srgbClr val="B60206"/>
    <a:srgbClr val="919191"/>
    <a:srgbClr val="FFFFFF"/>
    <a:srgbClr val="D9D9D9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58" autoAdjust="0"/>
    <p:restoredTop sz="95306" autoAdjust="0"/>
  </p:normalViewPr>
  <p:slideViewPr>
    <p:cSldViewPr snapToGrid="0">
      <p:cViewPr varScale="1">
        <p:scale>
          <a:sx n="77" d="100"/>
          <a:sy n="77" d="100"/>
        </p:scale>
        <p:origin x="8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5" Type="http://schemas.openxmlformats.org/officeDocument/2006/relationships/tags" Target="tags/tag1.xml"/><Relationship Id="rId44" Type="http://schemas.openxmlformats.org/officeDocument/2006/relationships/commentAuthors" Target="commentAuthors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handoutMaster" Target="handoutMasters/handoutMaster1.xml"/><Relationship Id="rId4" Type="http://schemas.openxmlformats.org/officeDocument/2006/relationships/slideMaster" Target="slideMasters/slideMaster3.xml"/><Relationship Id="rId39" Type="http://schemas.openxmlformats.org/officeDocument/2006/relationships/notesMaster" Target="notesMasters/notesMaster1.xml"/><Relationship Id="rId38" Type="http://schemas.openxmlformats.org/officeDocument/2006/relationships/slide" Target="slides/slide30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0" Type="http://schemas.openxmlformats.org/officeDocument/2006/relationships/slide" Target="slides/slide12.xml"/><Relationship Id="rId2" Type="http://schemas.openxmlformats.org/officeDocument/2006/relationships/theme" Target="theme/theme1.xml"/><Relationship Id="rId19" Type="http://schemas.openxmlformats.org/officeDocument/2006/relationships/slide" Target="slides/slide11.xml"/><Relationship Id="rId18" Type="http://schemas.openxmlformats.org/officeDocument/2006/relationships/slide" Target="slides/slide1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7" Type="http://schemas.openxmlformats.org/officeDocument/2006/relationships/theme" Target="../theme/theme6.xml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32400" y="2766060"/>
            <a:ext cx="3529965" cy="662940"/>
          </a:xfrm>
        </p:spPr>
        <p:txBody>
          <a:bodyPr/>
          <a:lstStyle/>
          <a:p>
            <a:r>
              <a:rPr lang="en-US" altLang="zh-CN" dirty="0"/>
              <a:t>spring</a:t>
            </a:r>
            <a:r>
              <a:rPr lang="zh-CN" altLang="en-US" dirty="0"/>
              <a:t>框架面试题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  <a:endParaRPr lang="en-US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lang="en-US" altLang="zh-CN" dirty="0"/>
              <a:t>Spring</a:t>
            </a:r>
            <a:r>
              <a:rPr kumimoji="1" dirty="0"/>
              <a:t>框架面试题</a:t>
            </a:r>
            <a:endParaRPr kumimoji="1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dirty="0"/>
              <a:t>spring的两大核心思想是什么</a:t>
            </a:r>
            <a:endParaRPr kumimoji="1" dirty="0"/>
          </a:p>
        </p:txBody>
      </p:sp>
      <p:sp>
        <p:nvSpPr>
          <p:cNvPr id="6" name="文本框 5"/>
          <p:cNvSpPr txBox="1"/>
          <p:nvPr/>
        </p:nvSpPr>
        <p:spPr>
          <a:xfrm>
            <a:off x="548005" y="1881505"/>
            <a:ext cx="11040110" cy="3200400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IOC：解耦，使代码复用，可维护性大幅提升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AOP：提供切面编程，同样增强生产力。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lang="en-US" altLang="zh-CN">
                <a:sym typeface="+mn-ea"/>
              </a:rPr>
              <a:t>Spring</a:t>
            </a:r>
            <a:r>
              <a:rPr kumimoji="1">
                <a:sym typeface="+mn-ea"/>
              </a:rPr>
              <a:t>框架面试题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dirty="0"/>
              <a:t>说说你对IOC的理解</a:t>
            </a:r>
            <a:endParaRPr kumimoji="1" dirty="0"/>
          </a:p>
        </p:txBody>
      </p:sp>
      <p:sp>
        <p:nvSpPr>
          <p:cNvPr id="2" name="文本框 1"/>
          <p:cNvSpPr txBox="1"/>
          <p:nvPr/>
        </p:nvSpPr>
        <p:spPr>
          <a:xfrm>
            <a:off x="365125" y="1715770"/>
            <a:ext cx="10090150" cy="2516505"/>
          </a:xfrm>
          <a:prstGeom prst="rect">
            <a:avLst/>
          </a:prstGeom>
          <a:noFill/>
        </p:spPr>
        <p:txBody>
          <a:bodyPr>
            <a:no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IoC（Inversion Of Control）控制反转，其实是一种思想，用于解决程序间的耦合问题。【解耦】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原本我们创建对象是直接在类中，通过new的方式创建，控制权在于程序员自己，现在我们把new对象的工作交给spring完成。反转的是对象的创建权力。【便捷】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lang="en-US" altLang="zh-CN">
                <a:sym typeface="+mn-ea"/>
              </a:rPr>
              <a:t>Spring</a:t>
            </a:r>
            <a:r>
              <a:rPr kumimoji="1">
                <a:sym typeface="+mn-ea"/>
              </a:rPr>
              <a:t>框架面试题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dirty="0"/>
              <a:t>什么是AOP？在你项目中哪些地方能体现？</a:t>
            </a:r>
            <a:endParaRPr kumimoji="1" dirty="0"/>
          </a:p>
        </p:txBody>
      </p:sp>
      <p:sp>
        <p:nvSpPr>
          <p:cNvPr id="2" name="文本框 1"/>
          <p:cNvSpPr txBox="1"/>
          <p:nvPr/>
        </p:nvSpPr>
        <p:spPr>
          <a:xfrm>
            <a:off x="427355" y="1587500"/>
            <a:ext cx="11128375" cy="2976880"/>
          </a:xfrm>
          <a:prstGeom prst="rect">
            <a:avLst/>
          </a:prstGeom>
          <a:noFill/>
        </p:spPr>
        <p:txBody>
          <a:bodyPr>
            <a:noAutofit/>
          </a:bodyPr>
          <a:p>
            <a:pPr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OOP(Object-Oriented Programming)面向对象编程，允许开发者定义纵向的关系，但并适用于定义横向的关系，导致了大量代码的重复，而不利于各个模块的重用。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AOP(Aspect-Oriented Programming)，一般称为面向切面编程，作为面向对象的一种补充，用于将那些与业务无关，但却对多个对象产生影响的公共行为和逻辑，抽取并封装为一个可重用的模块，这个模块被命名为“切面”（Aspect），减少系统中的重复代码，降低了模块间的耦合度，同时提高了系统的可维护性。可用于权限认证、日志、事务处理等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lang="en-US" altLang="zh-CN">
                <a:sym typeface="+mn-ea"/>
              </a:rPr>
              <a:t>Spring</a:t>
            </a:r>
            <a:r>
              <a:rPr kumimoji="1">
                <a:sym typeface="+mn-ea"/>
              </a:rPr>
              <a:t>框架面试题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dirty="0"/>
              <a:t>讲讲Spring 启动过程是什么样的？</a:t>
            </a:r>
            <a:endParaRPr kumimoji="1" dirty="0"/>
          </a:p>
        </p:txBody>
      </p:sp>
      <p:sp>
        <p:nvSpPr>
          <p:cNvPr id="2" name="文本框 1"/>
          <p:cNvSpPr txBox="1"/>
          <p:nvPr/>
        </p:nvSpPr>
        <p:spPr>
          <a:xfrm>
            <a:off x="427355" y="1498600"/>
            <a:ext cx="11128375" cy="5135880"/>
          </a:xfrm>
          <a:prstGeom prst="rect">
            <a:avLst/>
          </a:prstGeom>
          <a:noFill/>
        </p:spPr>
        <p:txBody>
          <a:bodyPr>
            <a:noAutofit/>
          </a:bodyPr>
          <a:p>
            <a:pPr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1.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加载配置文件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spring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启动时会加载应用的配置文件，通常是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applicationContext.xml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或者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java config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配置类。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2.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创建并初始化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spring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容器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一旦配置文件加载完成，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spring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会创建并初始化一个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spring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容器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(ApplicationContext)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，负责管理所有的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Bean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3.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扫描组件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容器扫描配置文件中指定的包，查找带有特定注解的类，如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@component,@Service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等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4.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实例化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bean</a:t>
            </a:r>
            <a:endParaRPr lang="en-US" altLang="zh-CN" b="1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5.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注入依赖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6.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应用</a:t>
            </a: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AOP</a:t>
            </a:r>
            <a:endParaRPr lang="en-US" altLang="zh-CN" b="1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如果应用程序中使用了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AOP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，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spring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将会为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bean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动态生成代理，并将切面逻辑织入到相应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bean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中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7.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触发生命周期回调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bean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的初始化完成后，触发如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@PostConstruct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方法等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 8.</a:t>
            </a: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完成启动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lang="en-US" altLang="zh-CN">
                <a:sym typeface="+mn-ea"/>
              </a:rPr>
              <a:t>Spring</a:t>
            </a:r>
            <a:r>
              <a:rPr kumimoji="1">
                <a:sym typeface="+mn-ea"/>
              </a:rPr>
              <a:t>框架面试题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lang="zh-CN" altLang="en-US" dirty="0"/>
              <a:t>spring框架中的单例bean是线程安全的么？</a:t>
            </a:r>
            <a:endParaRPr kumimoji="1"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536575" y="1692275"/>
            <a:ext cx="10788650" cy="4036695"/>
          </a:xfrm>
          <a:prstGeom prst="rect">
            <a:avLst/>
          </a:prstGeom>
          <a:noFill/>
        </p:spPr>
        <p:txBody>
          <a:bodyPr>
            <a:no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不是，Spring框架中的单例bean不是线程安全的。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spring 中的 bean 默认是单例模式，spring 框架并没有对单例 bean 进行多线程的封装处理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常见的有两种解决办法：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1. 在Bean对象中尽量避免定义可变的成员变量（不太现实）。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2. 在类中定义⼀个ThreadLocal成员变量，将需要的可变成员变量保存在 ThreadLocal 中（推荐方式）。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lang="en-US" altLang="zh-CN">
                <a:sym typeface="+mn-ea"/>
              </a:rPr>
              <a:t>Spring</a:t>
            </a:r>
            <a:r>
              <a:rPr kumimoji="1">
                <a:sym typeface="+mn-ea"/>
              </a:rPr>
              <a:t>框架面试题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lang="zh-CN" altLang="en-US" dirty="0"/>
              <a:t>Spring循环依赖了解过么</a:t>
            </a:r>
            <a:endParaRPr kumimoji="1"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326390" y="1560195"/>
            <a:ext cx="10788650" cy="1337945"/>
          </a:xfrm>
          <a:prstGeom prst="rect">
            <a:avLst/>
          </a:prstGeom>
          <a:noFill/>
        </p:spPr>
        <p:txBody>
          <a:bodyPr>
            <a:no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比如:A依赖于B、B依赖于c、c依赖于A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通常来说，如果问spring容器内部如何解决循环依赖， 一定是指默认的单例Bean中，属性互相引用的场景。也就是说，Spring的循环依赖，是Spring容器注入时候出现的问题。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36975" y="2937510"/>
            <a:ext cx="3609340" cy="33978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lang="en-US" altLang="zh-CN">
                <a:sym typeface="+mn-ea"/>
              </a:rPr>
              <a:t>Spring</a:t>
            </a:r>
            <a:r>
              <a:rPr kumimoji="1">
                <a:sym typeface="+mn-ea"/>
              </a:rPr>
              <a:t>框架面试题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lang="zh-CN" altLang="en-US" dirty="0"/>
              <a:t>Spring是怎么解决循环依赖的？</a:t>
            </a:r>
            <a:endParaRPr kumimoji="1"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365125" y="1560195"/>
            <a:ext cx="10788650" cy="2743200"/>
          </a:xfrm>
          <a:prstGeom prst="rect">
            <a:avLst/>
          </a:prstGeom>
          <a:noFill/>
        </p:spPr>
        <p:txBody>
          <a:bodyPr>
            <a:noAutofit/>
          </a:bodyPr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Spring的单例对象的初始化主要分为三步：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1. 实例化：其实也就是调用对象的构造方法实例化对象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2. 注入：填充属性，这一步主要是对bean的依赖属性进行填充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3. 初始化：属性注入后，执行自定义初始化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从bean初始化步骤我们可以知道，循环依赖主要发生在第一、第二步。也就是构造器循环依赖和field循环依赖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Spring是如何解决Bean的循环依赖？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采用三级缓存解决的 就是三个Map ； 关键： 一定要有一个缓存保存它的早期对象作为死循环的出口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310" y="4494530"/>
            <a:ext cx="9134475" cy="19005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lang="en-US" altLang="zh-CN">
                <a:sym typeface="+mn-ea"/>
              </a:rPr>
              <a:t>Spring</a:t>
            </a:r>
            <a:r>
              <a:rPr kumimoji="1">
                <a:sym typeface="+mn-ea"/>
              </a:rPr>
              <a:t>框架面试题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lang="zh-CN" altLang="en-US" dirty="0"/>
              <a:t>Spring是怎么解决循环依赖的？</a:t>
            </a:r>
            <a:endParaRPr kumimoji="1"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515" y="1531620"/>
            <a:ext cx="7162800" cy="336232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600315" y="1842770"/>
            <a:ext cx="4159885" cy="2512060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lang="zh-CN" altLang="en-US" sz="1600" b="0" i="0">
                <a:solidFill>
                  <a:srgbClr val="2C2C2C"/>
                </a:solidFill>
                <a:latin typeface="PingFang SC"/>
                <a:ea typeface="PingFang SC"/>
              </a:rPr>
              <a:t>在 </a:t>
            </a:r>
            <a:r>
              <a:rPr lang="en-US" altLang="zh-CN" sz="1600" b="0" i="0">
                <a:solidFill>
                  <a:srgbClr val="2C2C2C"/>
                </a:solidFill>
                <a:latin typeface="PingFang SC"/>
                <a:ea typeface="PingFang SC"/>
              </a:rPr>
              <a:t>A </a:t>
            </a:r>
            <a:r>
              <a:rPr lang="zh-CN" altLang="en-US" sz="1600" b="0" i="0">
                <a:solidFill>
                  <a:srgbClr val="2C2C2C"/>
                </a:solidFill>
                <a:latin typeface="PingFang SC"/>
                <a:ea typeface="PingFang SC"/>
              </a:rPr>
              <a:t>完成实例化后，就使用实例化后的对象去创建一个对象工厂，并添加到三级缓存中，如果 </a:t>
            </a:r>
            <a:r>
              <a:rPr lang="en-US" altLang="zh-CN" sz="1600" b="0" i="0">
                <a:solidFill>
                  <a:srgbClr val="2C2C2C"/>
                </a:solidFill>
                <a:latin typeface="PingFang SC"/>
                <a:ea typeface="PingFang SC"/>
              </a:rPr>
              <a:t>A </a:t>
            </a:r>
            <a:r>
              <a:rPr lang="zh-CN" altLang="en-US" sz="1600" b="0" i="0">
                <a:solidFill>
                  <a:srgbClr val="2C2C2C"/>
                </a:solidFill>
                <a:latin typeface="PingFang SC"/>
                <a:ea typeface="PingFang SC"/>
              </a:rPr>
              <a:t>被 </a:t>
            </a:r>
            <a:r>
              <a:rPr lang="en-US" altLang="zh-CN" sz="1600" b="0" i="0">
                <a:solidFill>
                  <a:srgbClr val="2C2C2C"/>
                </a:solidFill>
                <a:latin typeface="PingFang SC"/>
                <a:ea typeface="PingFang SC"/>
              </a:rPr>
              <a:t>AOP </a:t>
            </a:r>
            <a:r>
              <a:rPr lang="zh-CN" altLang="en-US" sz="1600" b="0" i="0">
                <a:solidFill>
                  <a:srgbClr val="2C2C2C"/>
                </a:solidFill>
                <a:latin typeface="PingFang SC"/>
                <a:ea typeface="PingFang SC"/>
              </a:rPr>
              <a:t>代理，那么，通过这个工厂获取到的就是 </a:t>
            </a:r>
            <a:r>
              <a:rPr lang="en-US" altLang="zh-CN" sz="1600" b="0" i="0">
                <a:solidFill>
                  <a:srgbClr val="2C2C2C"/>
                </a:solidFill>
                <a:latin typeface="PingFang SC"/>
                <a:ea typeface="PingFang SC"/>
              </a:rPr>
              <a:t>A </a:t>
            </a:r>
            <a:r>
              <a:rPr lang="zh-CN" altLang="en-US" sz="1600" b="0" i="0">
                <a:solidFill>
                  <a:srgbClr val="2C2C2C"/>
                </a:solidFill>
                <a:latin typeface="PingFang SC"/>
                <a:ea typeface="PingFang SC"/>
              </a:rPr>
              <a:t>代理后的对象，如果 </a:t>
            </a:r>
            <a:r>
              <a:rPr lang="en-US" altLang="zh-CN" sz="1600" b="0" i="0">
                <a:solidFill>
                  <a:srgbClr val="2C2C2C"/>
                </a:solidFill>
                <a:latin typeface="PingFang SC"/>
                <a:ea typeface="PingFang SC"/>
              </a:rPr>
              <a:t>A </a:t>
            </a:r>
            <a:r>
              <a:rPr lang="zh-CN" altLang="en-US" sz="1600" b="0" i="0">
                <a:solidFill>
                  <a:srgbClr val="2C2C2C"/>
                </a:solidFill>
                <a:latin typeface="PingFang SC"/>
                <a:ea typeface="PingFang SC"/>
              </a:rPr>
              <a:t>没有被 </a:t>
            </a:r>
            <a:r>
              <a:rPr lang="en-US" altLang="zh-CN" sz="1600" b="0" i="0">
                <a:solidFill>
                  <a:srgbClr val="2C2C2C"/>
                </a:solidFill>
                <a:latin typeface="PingFang SC"/>
                <a:ea typeface="PingFang SC"/>
              </a:rPr>
              <a:t>AOP </a:t>
            </a:r>
            <a:r>
              <a:rPr lang="zh-CN" altLang="en-US" sz="1600" b="0" i="0">
                <a:solidFill>
                  <a:srgbClr val="2C2C2C"/>
                </a:solidFill>
                <a:latin typeface="PingFang SC"/>
                <a:ea typeface="PingFang SC"/>
              </a:rPr>
              <a:t>代理，那么，这个工厂获取到的就是 </a:t>
            </a:r>
            <a:r>
              <a:rPr lang="en-US" altLang="zh-CN" sz="1600" b="0" i="0">
                <a:solidFill>
                  <a:srgbClr val="2C2C2C"/>
                </a:solidFill>
                <a:latin typeface="PingFang SC"/>
                <a:ea typeface="PingFang SC"/>
              </a:rPr>
              <a:t>A </a:t>
            </a:r>
            <a:r>
              <a:rPr lang="zh-CN" altLang="en-US" sz="1600" b="0" i="0">
                <a:solidFill>
                  <a:srgbClr val="2C2C2C"/>
                </a:solidFill>
                <a:latin typeface="PingFang SC"/>
                <a:ea typeface="PingFang SC"/>
              </a:rPr>
              <a:t>实例化的对象</a:t>
            </a:r>
            <a:endParaRPr lang="zh-CN" altLang="en-US" sz="1600" b="0" i="0">
              <a:solidFill>
                <a:srgbClr val="2C2C2C"/>
              </a:solidFill>
              <a:latin typeface="PingFang SC"/>
              <a:ea typeface="PingFang SC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2760" y="5244465"/>
            <a:ext cx="9495155" cy="829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b="0" i="0">
                <a:solidFill>
                  <a:srgbClr val="2C2C2C"/>
                </a:solidFill>
                <a:latin typeface="PingFang SC"/>
                <a:ea typeface="PingFang SC"/>
              </a:rPr>
              <a:t>很明显，如果仅仅只是为了解决循环依赖，二级缓存够了，根本就不必要三级缓存。但是，如果我们希望对添加到三级缓存中的实例对象进行增强（例如，</a:t>
            </a:r>
            <a:r>
              <a:rPr lang="en-US" altLang="zh-CN" sz="1600" b="0" i="0">
                <a:solidFill>
                  <a:srgbClr val="2C2C2C"/>
                </a:solidFill>
                <a:latin typeface="PingFang SC"/>
                <a:ea typeface="PingFang SC"/>
              </a:rPr>
              <a:t>AOP</a:t>
            </a:r>
            <a:r>
              <a:rPr lang="zh-CN" altLang="en-US" sz="1600" b="0" i="0">
                <a:solidFill>
                  <a:srgbClr val="2C2C2C"/>
                </a:solidFill>
                <a:latin typeface="PingFang SC"/>
                <a:ea typeface="PingFang SC"/>
              </a:rPr>
              <a:t>），直接用实例对象是行不通的。三级工厂的作用就是判断这个对象是否需要代理，如果否则直接返回，如果是则返回代理对象。</a:t>
            </a:r>
            <a:endParaRPr lang="zh-CN" altLang="en-US" sz="1600" b="0" i="0">
              <a:solidFill>
                <a:srgbClr val="2C2C2C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lang="en-US" altLang="zh-CN">
                <a:sym typeface="+mn-ea"/>
              </a:rPr>
              <a:t>Spring</a:t>
            </a:r>
            <a:r>
              <a:rPr kumimoji="1">
                <a:sym typeface="+mn-ea"/>
              </a:rPr>
              <a:t>框架面试题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lang="zh-CN" altLang="en-US" dirty="0"/>
              <a:t>你们项目中如果发生了循环依赖的错误怎么处理？</a:t>
            </a:r>
            <a:endParaRPr kumimoji="1" lang="en-US" altLang="zh-CN" dirty="0"/>
          </a:p>
        </p:txBody>
      </p:sp>
      <p:sp>
        <p:nvSpPr>
          <p:cNvPr id="2" name="文本框 1"/>
          <p:cNvSpPr txBox="1"/>
          <p:nvPr/>
        </p:nvSpPr>
        <p:spPr>
          <a:xfrm>
            <a:off x="365125" y="2014220"/>
            <a:ext cx="10788650" cy="1337945"/>
          </a:xfrm>
          <a:prstGeom prst="rect">
            <a:avLst/>
          </a:prstGeom>
          <a:noFill/>
        </p:spPr>
        <p:txBody>
          <a:bodyPr>
            <a:noAutofit/>
          </a:bodyPr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1.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如果发生循环依赖，那肯定是业务编码设计不合理，重新设计业务流程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2. 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使用@Lazy注解： @Lazy注解可以延迟Bean的实例化，从而避免循环依赖的问题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lang="en-US" altLang="zh-CN">
                <a:sym typeface="+mn-ea"/>
              </a:rPr>
              <a:t>Spring</a:t>
            </a:r>
            <a:r>
              <a:rPr kumimoji="1">
                <a:sym typeface="+mn-ea"/>
              </a:rPr>
              <a:t>框架面试题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125" y="940435"/>
            <a:ext cx="10749915" cy="615315"/>
          </a:xfrm>
        </p:spPr>
        <p:txBody>
          <a:bodyPr/>
          <a:lstStyle/>
          <a:p>
            <a:r>
              <a:rPr kumimoji="1" lang="zh-CN" altLang="en-US" dirty="0"/>
              <a:t>Spring支持的事务管理类型</a:t>
            </a:r>
            <a:endParaRPr kumimoji="1"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398780" y="1934210"/>
            <a:ext cx="10146665" cy="922020"/>
          </a:xfrm>
          <a:prstGeom prst="rect">
            <a:avLst/>
          </a:prstGeom>
          <a:noFill/>
        </p:spPr>
        <p:txBody>
          <a:bodyPr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编程式事务管理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：通过编程的方式管理事务，带来极大的灵活性，但是难维护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声明式事务管理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：将业务代码和事务管理分离，只需要注解就可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lang="en-US" altLang="zh-CN">
                <a:sym typeface="+mn-ea"/>
              </a:rPr>
              <a:t>Spring</a:t>
            </a:r>
            <a:r>
              <a:rPr kumimoji="1">
                <a:sym typeface="+mn-ea"/>
              </a:rPr>
              <a:t>框架面试题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lang="zh-CN" altLang="en-US" dirty="0"/>
              <a:t>说下Spring的事务传播行为</a:t>
            </a:r>
            <a:endParaRPr kumimoji="1"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945" y="1875155"/>
            <a:ext cx="9144000" cy="2952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lang="en-US" altLang="zh-CN">
                <a:sym typeface="+mn-ea"/>
              </a:rPr>
              <a:t>Spring</a:t>
            </a:r>
            <a:r>
              <a:rPr kumimoji="1">
                <a:sym typeface="+mn-ea"/>
              </a:rPr>
              <a:t>框架面试题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dirty="0"/>
              <a:t>Spring事务在哪些场景下会失效？</a:t>
            </a:r>
            <a:endParaRPr kumimoji="1" dirty="0"/>
          </a:p>
        </p:txBody>
      </p:sp>
      <p:sp>
        <p:nvSpPr>
          <p:cNvPr id="2" name="文本框 1"/>
          <p:cNvSpPr txBox="1"/>
          <p:nvPr/>
        </p:nvSpPr>
        <p:spPr>
          <a:xfrm>
            <a:off x="448945" y="1631950"/>
            <a:ext cx="11101070" cy="2682240"/>
          </a:xfrm>
          <a:prstGeom prst="rect">
            <a:avLst/>
          </a:prstGeom>
          <a:noFill/>
        </p:spPr>
        <p:txBody>
          <a:bodyPr>
            <a:noAutofit/>
          </a:bodyPr>
          <a:p>
            <a:pPr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1. 抛出检查异常导致事务不能正确回滚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2.业务方法内自己 try-catch 异常导致事务不能正确回滚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3.非 public 方法导致的事务失效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4.调用本类方法导致传播行为失效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lang="en-US" altLang="zh-CN">
                <a:sym typeface="+mn-ea"/>
              </a:rPr>
              <a:t>Spring</a:t>
            </a:r>
            <a:r>
              <a:rPr kumimoji="1">
                <a:sym typeface="+mn-ea"/>
              </a:rPr>
              <a:t>框架面试题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dirty="0"/>
              <a:t>你们微服务中是怎么解决分布式事务的？</a:t>
            </a:r>
            <a:endParaRPr kumimoji="1" dirty="0"/>
          </a:p>
        </p:txBody>
      </p:sp>
      <p:sp>
        <p:nvSpPr>
          <p:cNvPr id="2" name="文本框 1"/>
          <p:cNvSpPr txBox="1"/>
          <p:nvPr/>
        </p:nvSpPr>
        <p:spPr>
          <a:xfrm>
            <a:off x="365125" y="1637030"/>
            <a:ext cx="11101070" cy="3994150"/>
          </a:xfrm>
          <a:prstGeom prst="rect">
            <a:avLst/>
          </a:prstGeom>
          <a:noFill/>
        </p:spPr>
        <p:txBody>
          <a:bodyPr>
            <a:noAutofit/>
          </a:bodyPr>
          <a:p>
            <a:pPr fontAlgn="auto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1.业务层面保持最终一致性就行，我们一般用</a:t>
            </a:r>
            <a:r>
              <a:rPr 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补偿</a:t>
            </a: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方案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2.seata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lang="en-US" altLang="zh-CN">
                <a:sym typeface="+mn-ea"/>
              </a:rPr>
              <a:t>Spring</a:t>
            </a:r>
            <a:r>
              <a:rPr kumimoji="1">
                <a:sym typeface="+mn-ea"/>
              </a:rPr>
              <a:t>框架面试题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lang="en-US" altLang="zh-CN" dirty="0"/>
              <a:t>seata</a:t>
            </a:r>
            <a:r>
              <a:rPr kumimoji="1" dirty="0"/>
              <a:t>的</a:t>
            </a:r>
            <a:r>
              <a:rPr kumimoji="1" lang="en-US" altLang="zh-CN" dirty="0"/>
              <a:t>XA</a:t>
            </a:r>
            <a:r>
              <a:rPr kumimoji="1" dirty="0"/>
              <a:t>和</a:t>
            </a:r>
            <a:r>
              <a:rPr kumimoji="1" lang="en-US" altLang="zh-CN" dirty="0"/>
              <a:t>AT</a:t>
            </a:r>
            <a:r>
              <a:rPr kumimoji="1" dirty="0"/>
              <a:t>模式有啥区别？</a:t>
            </a:r>
            <a:endParaRPr kumimoji="1" dirty="0"/>
          </a:p>
        </p:txBody>
      </p:sp>
      <p:sp>
        <p:nvSpPr>
          <p:cNvPr id="2" name="文本框 1"/>
          <p:cNvSpPr txBox="1"/>
          <p:nvPr/>
        </p:nvSpPr>
        <p:spPr>
          <a:xfrm>
            <a:off x="365125" y="1637030"/>
            <a:ext cx="11101070" cy="2515235"/>
          </a:xfrm>
          <a:prstGeom prst="rect">
            <a:avLst/>
          </a:prstGeom>
          <a:noFill/>
        </p:spPr>
        <p:txBody>
          <a:bodyPr>
            <a:noAutofit/>
          </a:bodyPr>
          <a:p>
            <a:pPr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XA模式一阶段不提交事务，锁定资源；AT模式一阶段直接提交，不锁定资源。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XA模式依赖数据库机制实现回滚；AT模式利用数据快照实现数据回滚。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XA模式强一致；AT模式最终一致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lang="en-US" altLang="zh-CN">
                <a:sym typeface="+mn-ea"/>
              </a:rPr>
              <a:t>Spring</a:t>
            </a:r>
            <a:r>
              <a:rPr kumimoji="1">
                <a:sym typeface="+mn-ea"/>
              </a:rPr>
              <a:t>框架面试题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dirty="0"/>
              <a:t>解释下springboot的自动装配原理</a:t>
            </a:r>
            <a:endParaRPr kumimoji="1" dirty="0"/>
          </a:p>
        </p:txBody>
      </p:sp>
      <p:sp>
        <p:nvSpPr>
          <p:cNvPr id="2" name="文本框 1"/>
          <p:cNvSpPr txBox="1"/>
          <p:nvPr/>
        </p:nvSpPr>
        <p:spPr>
          <a:xfrm>
            <a:off x="365125" y="1637030"/>
            <a:ext cx="11101070" cy="3994150"/>
          </a:xfrm>
          <a:prstGeom prst="rect">
            <a:avLst/>
          </a:prstGeom>
          <a:noFill/>
        </p:spPr>
        <p:txBody>
          <a:bodyPr>
            <a:noAutofit/>
          </a:bodyPr>
          <a:p>
            <a:pPr fontAlgn="auto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1.Spring Boot 通过@EnableAutoConfiguration开启自动装配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endParaRPr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2.通过 SpringFactoriesLoader 最终加载META-INF/spring.factories中的自动配置类实现自动装配，自动配置类其实就是通过@Conditional按需加载的配置类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endParaRPr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3.想要其生效必须引入spring-boot-starter-xxx包实现起步依赖。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lang="en-US" altLang="zh-CN">
                <a:sym typeface="+mn-ea"/>
              </a:rPr>
              <a:t>Spring</a:t>
            </a:r>
            <a:r>
              <a:rPr kumimoji="1">
                <a:sym typeface="+mn-ea"/>
              </a:rPr>
              <a:t>框架面试题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lang="en-US" altLang="zh-CN" dirty="0"/>
              <a:t>springboot</a:t>
            </a:r>
            <a:r>
              <a:rPr kumimoji="1" dirty="0"/>
              <a:t>如何优雅停机</a:t>
            </a:r>
            <a:endParaRPr kumimoji="1" dirty="0"/>
          </a:p>
        </p:txBody>
      </p:sp>
      <p:sp>
        <p:nvSpPr>
          <p:cNvPr id="2" name="文本框 1"/>
          <p:cNvSpPr txBox="1"/>
          <p:nvPr/>
        </p:nvSpPr>
        <p:spPr>
          <a:xfrm>
            <a:off x="365125" y="1637030"/>
            <a:ext cx="11101070" cy="4070985"/>
          </a:xfrm>
          <a:prstGeom prst="rect">
            <a:avLst/>
          </a:prstGeom>
          <a:noFill/>
        </p:spPr>
        <p:txBody>
          <a:bodyPr>
            <a:noAutofit/>
          </a:bodyPr>
          <a:p>
            <a:pPr fontAlgn="auto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优雅停机（Graceful Shutdown）</a:t>
            </a: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是指在服务器需要关闭或重启时，能够先处理完当前正在进行的请求，然后再停止服务的操作。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优雅停机的实现步骤分为以下两步：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使用合理的 kill 命令，给 Spring Boot 项目发送优雅停机指令。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开启 Spring Boot 优雅停机/自定义 Spring Boot 优雅停机的实现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endParaRPr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825" y="4252595"/>
            <a:ext cx="6429375" cy="12338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lang="en-US" altLang="zh-CN">
                <a:sym typeface="+mn-ea"/>
              </a:rPr>
              <a:t>Spring</a:t>
            </a:r>
            <a:r>
              <a:rPr kumimoji="1">
                <a:sym typeface="+mn-ea"/>
              </a:rPr>
              <a:t>框架面试题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dirty="0"/>
              <a:t>SpringCloud组件有了解吗？常用的组件有哪些</a:t>
            </a:r>
            <a:endParaRPr kumimoji="1" dirty="0"/>
          </a:p>
        </p:txBody>
      </p:sp>
      <p:sp>
        <p:nvSpPr>
          <p:cNvPr id="2" name="文本框 1"/>
          <p:cNvSpPr txBox="1"/>
          <p:nvPr/>
        </p:nvSpPr>
        <p:spPr>
          <a:xfrm>
            <a:off x="514985" y="1609725"/>
            <a:ext cx="10520045" cy="2028825"/>
          </a:xfrm>
          <a:prstGeom prst="rect">
            <a:avLst/>
          </a:prstGeom>
          <a:noFill/>
        </p:spPr>
        <p:txBody>
          <a:bodyPr>
            <a:spAutoFit/>
          </a:bodyPr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</a:rPr>
              <a:t>注册中心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</a:rPr>
              <a:t>配置中心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</a:rPr>
              <a:t>远程调用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</a:rPr>
              <a:t>网关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</a:rPr>
              <a:t>服务保护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lang="en-US" altLang="zh-CN">
                <a:sym typeface="+mn-ea"/>
              </a:rPr>
              <a:t>Spring</a:t>
            </a:r>
            <a:r>
              <a:rPr kumimoji="1">
                <a:sym typeface="+mn-ea"/>
              </a:rPr>
              <a:t>框架面试题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dirty="0"/>
              <a:t>SpringCloud网关限流方式</a:t>
            </a:r>
            <a:endParaRPr kumimoji="1" dirty="0"/>
          </a:p>
        </p:txBody>
      </p:sp>
      <p:sp>
        <p:nvSpPr>
          <p:cNvPr id="2" name="文本框 1"/>
          <p:cNvSpPr txBox="1"/>
          <p:nvPr/>
        </p:nvSpPr>
        <p:spPr>
          <a:xfrm>
            <a:off x="514985" y="1609725"/>
            <a:ext cx="10520045" cy="1252855"/>
          </a:xfrm>
          <a:prstGeom prst="rect">
            <a:avLst/>
          </a:prstGeom>
          <a:noFill/>
        </p:spPr>
        <p:txBody>
          <a:bodyPr>
            <a:spAutoFit/>
          </a:bodyPr>
          <a:p>
            <a:pPr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</a:rPr>
              <a:t>1.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</a:rPr>
              <a:t>计数器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</a:rPr>
              <a:t>2.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</a:rPr>
              <a:t>漏桶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</a:endParaRPr>
          </a:p>
          <a:p>
            <a:pPr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</a:rPr>
              <a:t>3.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</a:rPr>
              <a:t>令牌桶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0740" y="3364230"/>
            <a:ext cx="2486025" cy="24669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7595" y="1714500"/>
            <a:ext cx="3419475" cy="4272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lang="en-US" altLang="zh-CN">
                <a:sym typeface="+mn-ea"/>
              </a:rPr>
              <a:t>Spring</a:t>
            </a:r>
            <a:r>
              <a:rPr kumimoji="1">
                <a:sym typeface="+mn-ea"/>
              </a:rPr>
              <a:t>框架面试题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dirty="0"/>
              <a:t>springboot注入bean有几种方式？</a:t>
            </a:r>
            <a:endParaRPr kumimoji="1" dirty="0"/>
          </a:p>
        </p:txBody>
      </p:sp>
      <p:sp>
        <p:nvSpPr>
          <p:cNvPr id="6" name="文本框 5"/>
          <p:cNvSpPr txBox="1"/>
          <p:nvPr/>
        </p:nvSpPr>
        <p:spPr>
          <a:xfrm>
            <a:off x="525780" y="1560195"/>
            <a:ext cx="9577070" cy="1170305"/>
          </a:xfrm>
          <a:prstGeom prst="rect">
            <a:avLst/>
          </a:prstGeom>
          <a:noFill/>
        </p:spPr>
        <p:txBody>
          <a:bodyPr>
            <a:spAutoFit/>
          </a:bodyPr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1.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构造器注入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2.setter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注入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3.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属性注入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" y="4456430"/>
            <a:ext cx="4348480" cy="8528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80" y="5765165"/>
            <a:ext cx="3448050" cy="5575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85" y="3132455"/>
            <a:ext cx="4371975" cy="10337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lang="en-US" altLang="zh-CN">
                <a:sym typeface="+mn-ea"/>
              </a:rPr>
              <a:t>Spring</a:t>
            </a:r>
            <a:r>
              <a:rPr kumimoji="1">
                <a:sym typeface="+mn-ea"/>
              </a:rPr>
              <a:t>框架面试题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lang="zh-CN" altLang="en-US" dirty="0"/>
              <a:t>Autowired和Resource注解的区别？</a:t>
            </a:r>
            <a:endParaRPr kumimoji="1"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422275" y="1620520"/>
            <a:ext cx="10558145" cy="3415030"/>
          </a:xfrm>
          <a:prstGeom prst="rect">
            <a:avLst/>
          </a:prstGeom>
          <a:noFill/>
        </p:spPr>
        <p:txBody>
          <a:bodyPr>
            <a:spAutoFit/>
          </a:bodyPr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1.</a:t>
            </a: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来源不同：@Autowired 来自 Spring 框架，而 @Resource 来自于（Java）JSR-250；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2.</a:t>
            </a: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依赖查找的顺序不同：@Autowired 先根据类型再根据名称查询，而 @Resource 先根据名称再根据类型查询；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3.</a:t>
            </a: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支持的参数不同：@Autowired 只支持设置 1 个参数，而 @Resource 支持设置 7 个参数；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4.</a:t>
            </a: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依赖注入的用法支持不同：@Autowired 既支持构造方法注入，又支持属性注入和 Setter 注入，而 @Resource 只支持属性注入和 Setter 注入；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5.</a:t>
            </a: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编译器 IDEA 的提示不同：当注入 Mapper 对象时，使用 @Autowired 注解编译器会提示错误，而使用 @Resource 注解则不会提示错误。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lang="en-US" altLang="zh-CN">
                <a:sym typeface="+mn-ea"/>
              </a:rPr>
              <a:t>Spring</a:t>
            </a:r>
            <a:r>
              <a:rPr kumimoji="1">
                <a:sym typeface="+mn-ea"/>
              </a:rPr>
              <a:t>框架面试题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lang="zh-CN" altLang="en-US" dirty="0"/>
              <a:t>nacos和eureka的区别</a:t>
            </a:r>
            <a:endParaRPr kumimoji="1"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509270" y="1547495"/>
            <a:ext cx="10744835" cy="4766945"/>
          </a:xfrm>
          <a:prstGeom prst="rect">
            <a:avLst/>
          </a:prstGeom>
          <a:noFill/>
        </p:spPr>
        <p:txBody>
          <a:bodyPr>
            <a:noAutofit/>
          </a:bodyPr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相同点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1）都支持服务注册和服务拉取。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2）都支持服务提供者心跳方式做健康检测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不同点</a:t>
            </a:r>
            <a:endParaRPr lang="zh-CN" altLang="en-US" b="1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）Eureka对服务提供者是每30秒一次心跳检测来检测服务健康，Nacos则把服务分为临时实例和非临时实例，对于临时实例，Nacos采取策略与Eureka相同，对于非临时实例，Nacos不会对其进行心跳检测，而是会主动调用该服务查看是否正常，若不正常会把该服务标记为不健康，不会把该服务从服务列表中去掉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2）Eureka会定时向注册中心定时拉去服务，如果不主动拉去服务，注册中心不会主动推送。Nacos中注册中心会定时向消费者主动推送信息 ，这样就会保持数据的准时性。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3）Nacos集群默认采用AP方式，当集群中存在非临时实例时，采用CP模式；Eureka采用AP方式。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lang="en-US" altLang="zh-CN">
                <a:sym typeface="+mn-ea"/>
              </a:rPr>
              <a:t>Spring</a:t>
            </a:r>
            <a:r>
              <a:rPr kumimoji="1">
                <a:sym typeface="+mn-ea"/>
              </a:rPr>
              <a:t>框架面试题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lang="zh-CN" altLang="en-US" dirty="0"/>
              <a:t>mybatis中的#和$的区别</a:t>
            </a:r>
            <a:endParaRPr kumimoji="1"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525780" y="1614805"/>
            <a:ext cx="10496550" cy="4222115"/>
          </a:xfrm>
          <a:prstGeom prst="rect">
            <a:avLst/>
          </a:prstGeom>
          <a:noFill/>
        </p:spPr>
        <p:txBody>
          <a:bodyPr>
            <a:noAutofit/>
          </a:bodyPr>
          <a:p>
            <a:pPr fontAlgn="auto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`#`将传入的数据都当成一个字符串，会对自动传入的数据加引号。 如：`where username=#{username}`，如果传入的值是111,那么解析成sql时的值为where username='111'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`$`将传入的数据直接显示生成在sql中。如：`where username=${username}`，如果传入的值是111,那么解析成sql时的值为`where username=111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`#`方式能够很大程度防止sql注入，`$`方式无法防止Sql注入。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`$`方式一般用于传入数据库对象，例如传入表名.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一般能用`#`的就别用`$`，若不得不使用`“${xxx}”`这样的参数，要手工地做好过滤工作，来防止sql注入攻击。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lang="en-US" altLang="zh-CN">
                <a:sym typeface="+mn-ea"/>
              </a:rPr>
              <a:t>Spring</a:t>
            </a:r>
            <a:r>
              <a:rPr kumimoji="1">
                <a:sym typeface="+mn-ea"/>
              </a:rPr>
              <a:t>框架面试题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lang="zh-CN" altLang="en-US" dirty="0"/>
              <a:t>mybatis的执行原理</a:t>
            </a:r>
            <a:endParaRPr kumimoji="1"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20065" y="1609090"/>
            <a:ext cx="10740390" cy="4246245"/>
          </a:xfrm>
          <a:prstGeom prst="rect">
            <a:avLst/>
          </a:prstGeom>
          <a:noFill/>
        </p:spPr>
        <p:txBody>
          <a:bodyPr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MyBatis的执行原理主要包括以下几个步骤：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配置解析：MyBatis 初始化时会解析 mybatis-config.xml 配置文件、映射文件 Mapper.xml 等配置，创建 Configuration 对象。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SQL 解析：Mapper 接口方法与 XML 中配置的 SQL 语句进行映射，创建 MappedStatement 对象。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执行器：MyBatis 会创建一个 SqlSession 对象，该对象提供了执行 SQL 的方法。当调用 SqlSession 的方法时，MyBatis 通过 Executor 接口执行 SQL，Executor 会调用 MappedStatement 对象包含的配置信息。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参数绑定：在 SQL 执行前，MyBatis 会进行参数绑定，即将方法参数绑定到 SQL 语句中。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SQL 执行：使用 JDBC 执行 SQL 语句。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结果映射：对查询结果进行映射，将结果集映射成 Java 对象。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lang="en-US" altLang="zh-CN">
                <a:sym typeface="+mn-ea"/>
              </a:rPr>
              <a:t>Spring</a:t>
            </a:r>
            <a:r>
              <a:rPr kumimoji="1">
                <a:sym typeface="+mn-ea"/>
              </a:rPr>
              <a:t>框架面试题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lang="zh-CN" altLang="en-US" dirty="0"/>
              <a:t>分布式session怎么解决？</a:t>
            </a:r>
            <a:endParaRPr kumimoji="1"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431800" y="1786890"/>
            <a:ext cx="10459720" cy="922020"/>
          </a:xfrm>
          <a:prstGeom prst="rect">
            <a:avLst/>
          </a:prstGeom>
          <a:noFill/>
        </p:spPr>
        <p:txBody>
          <a:bodyPr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使用 JWT Token 储存用户身份，然后再从数据库或者 cache 中获取其他的信息。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cookie + redis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lang="en-US" altLang="zh-CN">
                <a:sym typeface="+mn-ea"/>
              </a:rPr>
              <a:t>Spring</a:t>
            </a:r>
            <a:r>
              <a:rPr kumimoji="1">
                <a:sym typeface="+mn-ea"/>
              </a:rPr>
              <a:t>框架面试题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lang="zh-CN" altLang="en-US" dirty="0"/>
              <a:t>如何废弃jwt颁发的token?</a:t>
            </a:r>
            <a:endParaRPr kumimoji="1"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499745" y="3978275"/>
            <a:ext cx="10942320" cy="506730"/>
          </a:xfrm>
          <a:prstGeom prst="rect">
            <a:avLst/>
          </a:prstGeom>
          <a:noFill/>
        </p:spPr>
        <p:txBody>
          <a:bodyPr>
            <a:spAutoFit/>
          </a:bodyPr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后端改造，可以将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token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保存，然后设置一个状态，解析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token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的时候先判断状态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9745" y="1709420"/>
            <a:ext cx="9688195" cy="2070735"/>
          </a:xfrm>
          <a:prstGeom prst="rect">
            <a:avLst/>
          </a:prstGeom>
          <a:noFill/>
        </p:spPr>
        <p:txBody>
          <a:bodyPr>
            <a:noAutofit/>
          </a:bodyPr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JWT的常规架构中，已经发放出去的访问令牌是无法撤销和回收的。这也是JWT的显著特点之一，因为JWT本身就是一个去中心化的东西，谁获得了tokn,准就有权限访问。而缺点之一就是没办法直接实现token有效期刷新和token失效。只要客户端特有的访问令牌不过期，那么就可以访问对应的资源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lang="en-US" altLang="zh-CN">
                <a:sym typeface="+mn-ea"/>
              </a:rPr>
              <a:t>Spring</a:t>
            </a:r>
            <a:r>
              <a:rPr kumimoji="1">
                <a:sym typeface="+mn-ea"/>
              </a:rPr>
              <a:t>框架面试题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lang="zh-CN" altLang="en-US" dirty="0"/>
              <a:t>token如何续期？</a:t>
            </a:r>
            <a:endParaRPr kumimoji="1"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365125" y="1589405"/>
            <a:ext cx="10930890" cy="368300"/>
          </a:xfrm>
          <a:prstGeom prst="rect">
            <a:avLst/>
          </a:prstGeom>
          <a:noFill/>
        </p:spPr>
        <p:txBody>
          <a:bodyPr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双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token(acceess_token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、refresh_token）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41960" y="2292350"/>
            <a:ext cx="9782175" cy="2027555"/>
          </a:xfrm>
          <a:prstGeom prst="rect">
            <a:avLst/>
          </a:prstGeom>
          <a:noFill/>
        </p:spPr>
        <p:txBody>
          <a:bodyPr>
            <a:spAutoFit/>
          </a:bodyPr>
          <a:p>
            <a:pPr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1.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登录认证成功后同时颁发这两个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token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且后端存储这两个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token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2.acceess_token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用于正常业务访问携带的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token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，refresh_token用于刷新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+mn-ea"/>
              </a:rPr>
              <a:t>token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3.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accesstoken一般一两个小时失效,refreshtoken时间很长,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4.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accesstoken 快过期了就用refreshtoken去调刷新接口重新获取新的accesstoken和refreshtoken解决续期的问题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lang="en-US" altLang="zh-CN">
                <a:sym typeface="+mn-ea"/>
              </a:rPr>
              <a:t>Spring</a:t>
            </a:r>
            <a:r>
              <a:rPr kumimoji="1">
                <a:sym typeface="+mn-ea"/>
              </a:rPr>
              <a:t>框架面试题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lang="zh-CN" altLang="en-US" dirty="0"/>
              <a:t>如果token被其他人拿到了，是不是也能访问系统？</a:t>
            </a:r>
            <a:endParaRPr kumimoji="1"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365125" y="1521460"/>
            <a:ext cx="9303385" cy="810260"/>
          </a:xfrm>
          <a:prstGeom prst="rect">
            <a:avLst/>
          </a:prstGeom>
          <a:noFill/>
        </p:spPr>
        <p:txBody>
          <a:bodyPr>
            <a:spAutoFit/>
          </a:bodyPr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常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IP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校验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双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token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机制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65125" y="3278505"/>
            <a:ext cx="10125710" cy="274383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fontAlgn="auto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access_token使用的次数越多被窃取概率越大，过期时间越长也就越危险，所以，access_token传输次数越少越好，有效期越短越好。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对应的解决办法就是给两个token，一个token拿来频繁使用(有效期短)就是access_token了，另外一个token藏起来(有效期长)就是refresh_token了，即使频繁使用的acccess_token被窃取了,因为其有效期短,造成的损失也可能小一些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而refreshtoken只有刷新时候才用,调用次数很低,减少了被盗取的风险。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65125" y="2579370"/>
            <a:ext cx="10253345" cy="36830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记录用户经常使用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IP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，请求的时候做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IP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校验，如果发现</a:t>
            </a:r>
            <a:r>
              <a:rPr lang="en-US" altLang="zh-CN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IP</a:t>
            </a: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发生变化，开启强制验证，比如手机验证码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65440" y="244189"/>
            <a:ext cx="8771021" cy="517190"/>
          </a:xfrm>
        </p:spPr>
        <p:txBody>
          <a:bodyPr/>
          <a:lstStyle/>
          <a:p>
            <a:r>
              <a:rPr kumimoji="1" lang="en-US" altLang="zh-CN">
                <a:sym typeface="+mn-ea"/>
              </a:rPr>
              <a:t>Spring</a:t>
            </a:r>
            <a:r>
              <a:rPr kumimoji="1">
                <a:sym typeface="+mn-ea"/>
              </a:rPr>
              <a:t>框架面试题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65440" y="940716"/>
            <a:ext cx="10749599" cy="517190"/>
          </a:xfrm>
        </p:spPr>
        <p:txBody>
          <a:bodyPr/>
          <a:lstStyle/>
          <a:p>
            <a:r>
              <a:rPr kumimoji="1" lang="en-US" altLang="zh-CN" dirty="0"/>
              <a:t>Feign</a:t>
            </a:r>
            <a:r>
              <a:rPr kumimoji="1" dirty="0"/>
              <a:t>的底层实现原理</a:t>
            </a:r>
            <a:r>
              <a:rPr kumimoji="1" lang="zh-CN" altLang="en-US" dirty="0"/>
              <a:t>？</a:t>
            </a:r>
            <a:endParaRPr kumimoji="1"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365125" y="1684020"/>
            <a:ext cx="10125710" cy="3462655"/>
          </a:xfrm>
          <a:prstGeom prst="rect">
            <a:avLst/>
          </a:prstGeom>
          <a:noFill/>
        </p:spPr>
        <p:txBody>
          <a:bodyPr wrap="square">
            <a:noAutofit/>
          </a:bodyPr>
          <a:p>
            <a:pPr fontAlgn="auto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在使用Fegin时，会定义对应的接口类，在接口类上使用HTTP相关的注解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在Feign底层，通过基于面向接口的动态代理方式生成实现类，将请求调用委托到动态代理实现类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fontAlgn="auto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在代理类中，根据Contract协议规则，解析接口类的注解信息，然后构造http请求发送到指定服务地址(Feign默认底层通过JDK 的 java.net.HttpURLConnection 实现了feign.Client接口类,在每次发送请求的时候，都会创建新的HttpURLConnection 链接，这也就是为什么默认情况下Feign的性能很差的原因。可以通过拓展该接口，使用Apache HttpClient 或者OkHttp3等基于连接池的高性能HTTP客户端。)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12c42a1e-b098-4334-8256-e5821a5f84d7"/>
  <p:tag name="COMMONDATA" val="eyJoZGlkIjoiZThmNjAzMWJlZjFkMmQwODUwMTJkYzE2ODFiYmFmYTc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5580</Words>
  <Application>WPS 演示</Application>
  <PresentationFormat>宽屏</PresentationFormat>
  <Paragraphs>299</Paragraphs>
  <Slides>30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30</vt:i4>
      </vt:variant>
    </vt:vector>
  </HeadingPairs>
  <TitlesOfParts>
    <vt:vector size="56" baseType="lpstr">
      <vt:lpstr>Arial</vt:lpstr>
      <vt:lpstr>宋体</vt:lpstr>
      <vt:lpstr>Wingdings</vt:lpstr>
      <vt:lpstr>Calibri</vt:lpstr>
      <vt:lpstr>黑体</vt:lpstr>
      <vt:lpstr>Alibaba PuHuiTi B</vt:lpstr>
      <vt:lpstr>Alibaba PuHuiTi R</vt:lpstr>
      <vt:lpstr>Segoe UI</vt:lpstr>
      <vt:lpstr>微软雅黑</vt:lpstr>
      <vt:lpstr>Verdana</vt:lpstr>
      <vt:lpstr>阿里巴巴普惠体</vt:lpstr>
      <vt:lpstr>Segoe UI Light</vt:lpstr>
      <vt:lpstr>微软雅黑 Light</vt:lpstr>
      <vt:lpstr>Alibaba PuHuiTi M</vt:lpstr>
      <vt:lpstr>华文楷体</vt:lpstr>
      <vt:lpstr>等线</vt:lpstr>
      <vt:lpstr>Arial Unicode MS</vt:lpstr>
      <vt:lpstr>PingFang SC</vt:lpstr>
      <vt:lpstr>Segoe Print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spring框架面试题</vt:lpstr>
      <vt:lpstr>Spring框架面试题</vt:lpstr>
      <vt:lpstr>Spring框架面试题</vt:lpstr>
      <vt:lpstr>Spring框架面试题</vt:lpstr>
      <vt:lpstr>Spring框架面试题</vt:lpstr>
      <vt:lpstr>Spring框架面试题</vt:lpstr>
      <vt:lpstr>Spring框架面试题</vt:lpstr>
      <vt:lpstr>Spring框架面试题</vt:lpstr>
      <vt:lpstr>Spring框架面试题</vt:lpstr>
      <vt:lpstr>Spring框架面试题</vt:lpstr>
      <vt:lpstr>Spring框架面试题</vt:lpstr>
      <vt:lpstr>Spring框架面试题</vt:lpstr>
      <vt:lpstr>Spring框架面试题</vt:lpstr>
      <vt:lpstr>Spring框架面试题</vt:lpstr>
      <vt:lpstr>Spring框架面试题</vt:lpstr>
      <vt:lpstr>Spring框架面试题</vt:lpstr>
      <vt:lpstr>Spring框架面试题</vt:lpstr>
      <vt:lpstr>Spring框架面试题</vt:lpstr>
      <vt:lpstr>Spring框架面试题</vt:lpstr>
      <vt:lpstr>Spring框架面试题</vt:lpstr>
      <vt:lpstr>Spring框架面试题</vt:lpstr>
      <vt:lpstr>Spring框架面试题</vt:lpstr>
      <vt:lpstr>Spring框架面试题</vt:lpstr>
      <vt:lpstr>Spring框架面试题</vt:lpstr>
      <vt:lpstr>Spring框架面试题</vt:lpstr>
      <vt:lpstr>Spring框架面试题</vt:lpstr>
      <vt:lpstr>Spring框架面试题</vt:lpstr>
      <vt:lpstr>Spring框架面试题</vt:lpstr>
      <vt:lpstr>Spring框架面试题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小宇</cp:lastModifiedBy>
  <cp:revision>1678</cp:revision>
  <dcterms:created xsi:type="dcterms:W3CDTF">2020-03-31T02:23:00Z</dcterms:created>
  <dcterms:modified xsi:type="dcterms:W3CDTF">2025-04-07T00:25:14Z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5B7BA5D51A5A4D738150DEB1F7D88829</vt:lpwstr>
  </property>
  <property fmtid="{D5CDD505-2E9C-101B-9397-08002B2CF9AE}" pid="3" name="KSOProductBuildVer">
    <vt:lpwstr>2052-12.1.0.20305</vt:lpwstr>
  </property>
</Properties>
</file>