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4.xml" ContentType="application/vnd.openxmlformats-officedocument.theme+xml"/>
  <Override PartName="/ppt/slideLayouts/slideLayout6.xml" ContentType="application/vnd.openxmlformats-officedocument.presentationml.slideLayout+xml"/>
  <Override PartName="/ppt/theme/theme5.xml" ContentType="application/vnd.openxmlformats-officedocument.them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6.xml" ContentType="application/vnd.openxmlformats-officedocument.theme+xml"/>
  <Override PartName="/ppt/slideLayouts/slideLayout22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  <p:sldMasterId id="2147483652" r:id="rId3"/>
    <p:sldMasterId id="2147483654" r:id="rId4"/>
    <p:sldMasterId id="2147483657" r:id="rId5"/>
    <p:sldMasterId id="2147483659" r:id="rId6"/>
    <p:sldMasterId id="2147483675" r:id="rId7"/>
  </p:sldMasterIdLst>
  <p:notesMasterIdLst>
    <p:notesMasterId r:id="rId21"/>
  </p:notesMasterIdLst>
  <p:handoutMasterIdLst>
    <p:handoutMasterId r:id="rId22"/>
  </p:handoutMasterIdLst>
  <p:sldIdLst>
    <p:sldId id="641" r:id="rId8"/>
    <p:sldId id="467" r:id="rId9"/>
    <p:sldId id="1173" r:id="rId10"/>
    <p:sldId id="1174" r:id="rId11"/>
    <p:sldId id="1175" r:id="rId12"/>
    <p:sldId id="1176" r:id="rId13"/>
    <p:sldId id="1177" r:id="rId14"/>
    <p:sldId id="1178" r:id="rId15"/>
    <p:sldId id="1179" r:id="rId16"/>
    <p:sldId id="1180" r:id="rId17"/>
    <p:sldId id="1181" r:id="rId18"/>
    <p:sldId id="1182" r:id="rId19"/>
    <p:sldId id="1183" r:id="rId20"/>
  </p:sldIdLst>
  <p:sldSz cx="12192000" cy="6858000"/>
  <p:notesSz cx="6858000" cy="9144000"/>
  <p:custDataLst>
    <p:tags r:id="rId2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李 晓宇" initials="李" lastIdx="1" clrIdx="0"/>
  <p:cmAuthor id="2" name="作者" initials="A" lastIdx="0" clrIdx="1"/>
  <p:cmAuthor id="3" name="sbihc" initials="s" lastIdx="2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33"/>
    <a:srgbClr val="B70006"/>
    <a:srgbClr val="49504F"/>
    <a:srgbClr val="FFFFE4"/>
    <a:srgbClr val="AD2B26"/>
    <a:srgbClr val="B60206"/>
    <a:srgbClr val="919191"/>
    <a:srgbClr val="FFFFFF"/>
    <a:srgbClr val="D9D9D9"/>
    <a:srgbClr val="5151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458" autoAdjust="0"/>
    <p:restoredTop sz="95306" autoAdjust="0"/>
  </p:normalViewPr>
  <p:slideViewPr>
    <p:cSldViewPr snapToGrid="0">
      <p:cViewPr varScale="1">
        <p:scale>
          <a:sx n="115" d="100"/>
          <a:sy n="115" d="100"/>
        </p:scale>
        <p:origin x="658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7" d="100"/>
          <a:sy n="97" d="100"/>
        </p:scale>
        <p:origin x="3416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21" Type="http://schemas.openxmlformats.org/officeDocument/2006/relationships/notesMaster" Target="notesMasters/notesMaster1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4.xml"/><Relationship Id="rId24" Type="http://schemas.openxmlformats.org/officeDocument/2006/relationships/commentAuthors" Target="commentAuthor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8.xml"/><Relationship Id="rId23" Type="http://schemas.openxmlformats.org/officeDocument/2006/relationships/tags" Target="tags/tag1.xml"/><Relationship Id="rId28" Type="http://schemas.openxmlformats.org/officeDocument/2006/relationships/tableStyles" Target="tableStyles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handoutMaster" Target="handoutMasters/handoutMaster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3DFD10-C36A-A44C-AC52-E91D9A58CF7E}" type="datetimeFigureOut">
              <a:rPr kumimoji="1" lang="zh-CN" altLang="en-US" smtClean="0"/>
              <a:t>2025/10/15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F0B397-CD8F-1C4C-97BB-ADF18DDD1C0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E7ACF5-0677-4CC5-89ED-AE83D3F5859D}" type="datetimeFigureOut">
              <a:rPr lang="zh-CN" altLang="en-US" smtClean="0"/>
              <a:t>2025/10/15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C63F50-FC71-46DD-9BDC-11F985EF414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6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6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6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244725"/>
            <a:ext cx="10541000" cy="1158875"/>
          </a:xfrm>
          <a:prstGeom prst="rect">
            <a:avLst/>
          </a:prstGeom>
        </p:spPr>
        <p:txBody>
          <a:bodyPr anchor="ctr"/>
          <a:lstStyle>
            <a:lvl1pPr>
              <a:defRPr sz="72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主标题</a:t>
            </a:r>
          </a:p>
        </p:txBody>
      </p:sp>
      <p:sp>
        <p:nvSpPr>
          <p:cNvPr id="3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3454401"/>
            <a:ext cx="10540999" cy="630237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24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</a:lstStyle>
          <a:p>
            <a:pPr lvl="0"/>
            <a:r>
              <a:rPr kumimoji="1" lang="zh-CN" altLang="en-US" dirty="0"/>
              <a:t>副标题内容，如若没有可以删除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>
              <a:buNone/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  <a:lvl4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4pPr>
            <a:lvl5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8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4613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步骤</a:t>
              </a: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步骤标题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15" name="泪珠形 14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0" name="泪珠形 19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B602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思路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泪珠形 2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泪珠形 23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泪珠形 2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sv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6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9.xml"/><Relationship Id="rId3" Type="http://schemas.openxmlformats.org/officeDocument/2006/relationships/slideLayout" Target="../slideLayouts/slideLayout9.xml"/><Relationship Id="rId7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8.xml"/><Relationship Id="rId17" Type="http://schemas.openxmlformats.org/officeDocument/2006/relationships/image" Target="../media/image4.png"/><Relationship Id="rId2" Type="http://schemas.openxmlformats.org/officeDocument/2006/relationships/slideLayout" Target="../slideLayouts/slideLayout8.xml"/><Relationship Id="rId16" Type="http://schemas.openxmlformats.org/officeDocument/2006/relationships/theme" Target="../theme/theme6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1.xml"/><Relationship Id="rId15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0.xml"/><Relationship Id="rId9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20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图片 2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1677" y="5726430"/>
            <a:ext cx="2748647" cy="448662"/>
          </a:xfrm>
          <a:prstGeom prst="rect">
            <a:avLst/>
          </a:prstGeom>
        </p:spPr>
      </p:pic>
      <p:sp>
        <p:nvSpPr>
          <p:cNvPr id="30" name="六边形 29"/>
          <p:cNvSpPr/>
          <p:nvPr userDrawn="1"/>
        </p:nvSpPr>
        <p:spPr>
          <a:xfrm rot="5400000">
            <a:off x="8672366" y="-244234"/>
            <a:ext cx="1034350" cy="1136649"/>
          </a:xfrm>
          <a:custGeom>
            <a:avLst/>
            <a:gdLst>
              <a:gd name="connsiteX0" fmla="*/ 0 w 1318512"/>
              <a:gd name="connsiteY0" fmla="*/ 568325 h 1136649"/>
              <a:gd name="connsiteX1" fmla="*/ 284162 w 1318512"/>
              <a:gd name="connsiteY1" fmla="*/ 0 h 1136649"/>
              <a:gd name="connsiteX2" fmla="*/ 1034350 w 1318512"/>
              <a:gd name="connsiteY2" fmla="*/ 0 h 1136649"/>
              <a:gd name="connsiteX3" fmla="*/ 1318512 w 1318512"/>
              <a:gd name="connsiteY3" fmla="*/ 568325 h 1136649"/>
              <a:gd name="connsiteX4" fmla="*/ 1034350 w 1318512"/>
              <a:gd name="connsiteY4" fmla="*/ 1136649 h 1136649"/>
              <a:gd name="connsiteX5" fmla="*/ 284162 w 1318512"/>
              <a:gd name="connsiteY5" fmla="*/ 1136649 h 1136649"/>
              <a:gd name="connsiteX6" fmla="*/ 0 w 1318512"/>
              <a:gd name="connsiteY6" fmla="*/ 568325 h 1136649"/>
              <a:gd name="connsiteX0-1" fmla="*/ 0 w 1034350"/>
              <a:gd name="connsiteY0-2" fmla="*/ 1136649 h 1136649"/>
              <a:gd name="connsiteX1-3" fmla="*/ 0 w 1034350"/>
              <a:gd name="connsiteY1-4" fmla="*/ 0 h 1136649"/>
              <a:gd name="connsiteX2-5" fmla="*/ 750188 w 1034350"/>
              <a:gd name="connsiteY2-6" fmla="*/ 0 h 1136649"/>
              <a:gd name="connsiteX3-7" fmla="*/ 1034350 w 1034350"/>
              <a:gd name="connsiteY3-8" fmla="*/ 568325 h 1136649"/>
              <a:gd name="connsiteX4-9" fmla="*/ 750188 w 1034350"/>
              <a:gd name="connsiteY4-10" fmla="*/ 1136649 h 1136649"/>
              <a:gd name="connsiteX5-11" fmla="*/ 0 w 1034350"/>
              <a:gd name="connsiteY5-12" fmla="*/ 1136649 h 113664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1034350" h="1136649">
                <a:moveTo>
                  <a:pt x="0" y="1136649"/>
                </a:moveTo>
                <a:lnTo>
                  <a:pt x="0" y="0"/>
                </a:lnTo>
                <a:lnTo>
                  <a:pt x="750188" y="0"/>
                </a:lnTo>
                <a:lnTo>
                  <a:pt x="1034350" y="568325"/>
                </a:lnTo>
                <a:lnTo>
                  <a:pt x="750188" y="1136649"/>
                </a:lnTo>
                <a:lnTo>
                  <a:pt x="0" y="1136649"/>
                </a:lnTo>
                <a:close/>
              </a:path>
            </a:pathLst>
          </a:cu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1" name="六边形 30"/>
          <p:cNvSpPr/>
          <p:nvPr userDrawn="1"/>
        </p:nvSpPr>
        <p:spPr>
          <a:xfrm rot="5400000">
            <a:off x="9521078" y="753888"/>
            <a:ext cx="523072" cy="450925"/>
          </a:xfrm>
          <a:prstGeom prst="hexagon">
            <a:avLst/>
          </a:prstGeom>
          <a:solidFill>
            <a:srgbClr val="49504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2" name="六边形 31"/>
          <p:cNvSpPr/>
          <p:nvPr userDrawn="1"/>
        </p:nvSpPr>
        <p:spPr>
          <a:xfrm rot="5400000">
            <a:off x="8027944" y="996957"/>
            <a:ext cx="523072" cy="450925"/>
          </a:xfrm>
          <a:prstGeom prst="hexagon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3" name="六边形 32"/>
          <p:cNvSpPr/>
          <p:nvPr userDrawn="1"/>
        </p:nvSpPr>
        <p:spPr>
          <a:xfrm rot="5400000">
            <a:off x="10287577" y="140894"/>
            <a:ext cx="196767" cy="169627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4" name="六边形 33"/>
          <p:cNvSpPr/>
          <p:nvPr userDrawn="1"/>
        </p:nvSpPr>
        <p:spPr>
          <a:xfrm rot="5400000">
            <a:off x="3684719" y="893697"/>
            <a:ext cx="886529" cy="764250"/>
          </a:xfrm>
          <a:prstGeom prst="hexagon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5" name="六边形 34"/>
          <p:cNvSpPr/>
          <p:nvPr userDrawn="1"/>
        </p:nvSpPr>
        <p:spPr>
          <a:xfrm rot="5400000">
            <a:off x="11266257" y="1225116"/>
            <a:ext cx="206955" cy="178410"/>
          </a:xfrm>
          <a:prstGeom prst="hexagon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6" name="六边形 35"/>
          <p:cNvSpPr/>
          <p:nvPr userDrawn="1"/>
        </p:nvSpPr>
        <p:spPr>
          <a:xfrm rot="5400000">
            <a:off x="918490" y="676500"/>
            <a:ext cx="206955" cy="178410"/>
          </a:xfrm>
          <a:prstGeom prst="hexagon">
            <a:avLst/>
          </a:prstGeom>
          <a:solidFill>
            <a:srgbClr val="AD2B2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7" name="六边形 36"/>
          <p:cNvSpPr/>
          <p:nvPr userDrawn="1"/>
        </p:nvSpPr>
        <p:spPr>
          <a:xfrm rot="5400000">
            <a:off x="4564916" y="775592"/>
            <a:ext cx="369001" cy="318105"/>
          </a:xfrm>
          <a:prstGeom prst="hexagon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3" name="直线连接符 2"/>
          <p:cNvCxnSpPr/>
          <p:nvPr userDrawn="1"/>
        </p:nvCxnSpPr>
        <p:spPr>
          <a:xfrm>
            <a:off x="9997213" y="1131213"/>
            <a:ext cx="647089" cy="39664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线连接符 40"/>
          <p:cNvCxnSpPr/>
          <p:nvPr userDrawn="1"/>
        </p:nvCxnSpPr>
        <p:spPr>
          <a:xfrm>
            <a:off x="3898416" y="466240"/>
            <a:ext cx="691948" cy="36631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grpSp>
        <p:nvGrpSpPr>
          <p:cNvPr id="5" name="组合 4"/>
          <p:cNvGrpSpPr/>
          <p:nvPr userDrawn="1"/>
        </p:nvGrpSpPr>
        <p:grpSpPr>
          <a:xfrm>
            <a:off x="2126595" y="2260317"/>
            <a:ext cx="2280944" cy="1168683"/>
            <a:chOff x="1984355" y="1223746"/>
            <a:chExt cx="2280944" cy="1168683"/>
          </a:xfrm>
        </p:grpSpPr>
        <p:sp>
          <p:nvSpPr>
            <p:cNvPr id="20" name="文本框 19"/>
            <p:cNvSpPr txBox="1"/>
            <p:nvPr/>
          </p:nvSpPr>
          <p:spPr>
            <a:xfrm>
              <a:off x="2549296" y="1223746"/>
              <a:ext cx="1245854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4200" b="1" i="0" dirty="0"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目录</a:t>
              </a: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984355" y="1869209"/>
              <a:ext cx="183394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>
                      <a:lumMod val="8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阿里巴巴普惠体" panose="00020600040101010101" pitchFamily="18" charset="-122"/>
                </a:rPr>
                <a:t>Contents</a:t>
              </a:r>
              <a:endParaRPr lang="zh-CN" altLang="en-US" sz="28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3" name="直接连接符 2"/>
            <p:cNvCxnSpPr/>
            <p:nvPr/>
          </p:nvCxnSpPr>
          <p:spPr>
            <a:xfrm>
              <a:off x="4265299" y="1300145"/>
              <a:ext cx="0" cy="106226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六边形 24"/>
            <p:cNvSpPr/>
            <p:nvPr/>
          </p:nvSpPr>
          <p:spPr>
            <a:xfrm rot="5400000">
              <a:off x="2142134" y="1404577"/>
              <a:ext cx="437322" cy="377002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6" name="六边形 25"/>
            <p:cNvSpPr/>
            <p:nvPr/>
          </p:nvSpPr>
          <p:spPr>
            <a:xfrm rot="5400000">
              <a:off x="2037082" y="1610051"/>
              <a:ext cx="246109" cy="212163"/>
            </a:xfrm>
            <a:prstGeom prst="hexagon">
              <a:avLst/>
            </a:pr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六边形 7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六边形 10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4242" y="283220"/>
            <a:ext cx="1225447" cy="35824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8713" y="2604635"/>
            <a:ext cx="2314575" cy="95596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32400" y="2766060"/>
            <a:ext cx="3529965" cy="662940"/>
          </a:xfrm>
        </p:spPr>
        <p:txBody>
          <a:bodyPr/>
          <a:lstStyle/>
          <a:p>
            <a:r>
              <a:rPr lang="zh-CN" altLang="en-US" dirty="0"/>
              <a:t>多线程面试题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365440" y="244189"/>
            <a:ext cx="8771021" cy="517190"/>
          </a:xfrm>
        </p:spPr>
        <p:txBody>
          <a:bodyPr/>
          <a:lstStyle/>
          <a:p>
            <a:r>
              <a:rPr kumimoji="1" dirty="0"/>
              <a:t>多线程面试题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365440" y="940716"/>
            <a:ext cx="10749599" cy="517190"/>
          </a:xfrm>
        </p:spPr>
        <p:txBody>
          <a:bodyPr/>
          <a:lstStyle/>
          <a:p>
            <a:r>
              <a:rPr kumimoji="1" lang="zh-CN" altLang="en-US" dirty="0"/>
              <a:t>创建线程的方式</a:t>
            </a:r>
            <a:r>
              <a:rPr kumimoji="1" dirty="0"/>
              <a:t>？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436880" y="1703705"/>
            <a:ext cx="11040110" cy="26409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fontAlgn="auto">
              <a:lnSpc>
                <a:spcPct val="17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1. 继承 Thread 类</a:t>
            </a:r>
          </a:p>
          <a:p>
            <a:pPr fontAlgn="auto">
              <a:lnSpc>
                <a:spcPct val="17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2. 实现 Runnable 接口</a:t>
            </a:r>
          </a:p>
          <a:p>
            <a:pPr fontAlgn="auto">
              <a:lnSpc>
                <a:spcPct val="17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3. 实现 Callable 接口</a:t>
            </a:r>
          </a:p>
          <a:p>
            <a:pPr fontAlgn="auto">
              <a:lnSpc>
                <a:spcPct val="17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4. 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基于线程池</a:t>
            </a:r>
            <a:endParaRPr lang="en-US" altLang="zh-CN" dirty="0">
              <a:solidFill>
                <a:schemeClr val="tx1">
                  <a:lumMod val="65000"/>
                  <a:lumOff val="35000"/>
                </a:scheme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fontAlgn="auto">
              <a:lnSpc>
                <a:spcPct val="170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365440" y="244189"/>
            <a:ext cx="8771021" cy="517190"/>
          </a:xfrm>
        </p:spPr>
        <p:txBody>
          <a:bodyPr/>
          <a:lstStyle/>
          <a:p>
            <a:r>
              <a:rPr kumimoji="1" dirty="0"/>
              <a:t>多线程面试题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365440" y="940716"/>
            <a:ext cx="10749599" cy="517190"/>
          </a:xfrm>
        </p:spPr>
        <p:txBody>
          <a:bodyPr/>
          <a:lstStyle/>
          <a:p>
            <a:r>
              <a:rPr kumimoji="1" dirty="0"/>
              <a:t>runable和callable的区别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436880" y="1703705"/>
            <a:ext cx="11040110" cy="26409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fontAlgn="auto">
              <a:lnSpc>
                <a:spcPct val="17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(1)Callable规定的方法是call(),Runnable规定的方法是run().</a:t>
            </a:r>
          </a:p>
          <a:p>
            <a:pPr fontAlgn="auto">
              <a:lnSpc>
                <a:spcPct val="17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(2)Callable的任务执行后可返回值，而Runnable的任务是不能返回值</a:t>
            </a:r>
          </a:p>
          <a:p>
            <a:pPr fontAlgn="auto">
              <a:lnSpc>
                <a:spcPct val="17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(3)call方法可以抛出异常，run方法不可以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365440" y="244189"/>
            <a:ext cx="8771021" cy="517190"/>
          </a:xfrm>
        </p:spPr>
        <p:txBody>
          <a:bodyPr/>
          <a:lstStyle/>
          <a:p>
            <a:r>
              <a:rPr kumimoji="1" dirty="0"/>
              <a:t>多线程面试题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365440" y="940716"/>
            <a:ext cx="10749599" cy="517190"/>
          </a:xfrm>
        </p:spPr>
        <p:txBody>
          <a:bodyPr/>
          <a:lstStyle/>
          <a:p>
            <a:r>
              <a:rPr kumimoji="1" dirty="0"/>
              <a:t>多线程如何获取执行结果？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436880" y="1703705"/>
            <a:ext cx="11040110" cy="26409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fontAlgn="auto">
              <a:lnSpc>
                <a:spcPct val="17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使用Callable和Future接口</a:t>
            </a:r>
          </a:p>
          <a:p>
            <a:pPr fontAlgn="auto">
              <a:lnSpc>
                <a:spcPct val="17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使用共享变量（比如写到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Redis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里面）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365440" y="244189"/>
            <a:ext cx="8771021" cy="517190"/>
          </a:xfrm>
        </p:spPr>
        <p:txBody>
          <a:bodyPr/>
          <a:lstStyle/>
          <a:p>
            <a:r>
              <a:rPr kumimoji="1" dirty="0"/>
              <a:t>多线程面试题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365440" y="940716"/>
            <a:ext cx="10749599" cy="517190"/>
          </a:xfrm>
        </p:spPr>
        <p:txBody>
          <a:bodyPr/>
          <a:lstStyle/>
          <a:p>
            <a:r>
              <a:rPr kumimoji="1" dirty="0"/>
              <a:t>volatile关键字了解过么？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436880" y="1703705"/>
            <a:ext cx="11040110" cy="229743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fontAlgn="auto">
              <a:lnSpc>
                <a:spcPct val="17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volatile是Java语言中的一个关键字，它用于声明变量。当你声明变量为volatile时，这意味着这个变量是可以被多个线程同时访问和修改的。</a:t>
            </a:r>
          </a:p>
          <a:p>
            <a:pPr fontAlgn="auto">
              <a:lnSpc>
                <a:spcPct val="17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volatile关键字的主要作用是提供了一种可见性(visibility)，即当一个线程修改了一个volatile变量的值，新值对其他线程是立即可见的。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365440" y="244189"/>
            <a:ext cx="8771021" cy="517190"/>
          </a:xfrm>
        </p:spPr>
        <p:txBody>
          <a:bodyPr/>
          <a:lstStyle/>
          <a:p>
            <a:r>
              <a:rPr kumimoji="1" dirty="0"/>
              <a:t>多线程面试题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365440" y="940716"/>
            <a:ext cx="10749599" cy="517190"/>
          </a:xfrm>
        </p:spPr>
        <p:txBody>
          <a:bodyPr/>
          <a:lstStyle/>
          <a:p>
            <a:r>
              <a:rPr kumimoji="1" dirty="0"/>
              <a:t>synchronized和lock有什么区别？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436880" y="1703705"/>
            <a:ext cx="11040110" cy="26409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fontAlgn="auto">
              <a:lnSpc>
                <a:spcPct val="17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首先synchronized是Java内置关键字，在JVM层面，Lock是个Java类；</a:t>
            </a:r>
          </a:p>
          <a:p>
            <a:pPr fontAlgn="auto">
              <a:lnSpc>
                <a:spcPct val="17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synchronized 可以给类、方法、代码块加锁；而 lock 只能给代码块加锁。 </a:t>
            </a:r>
          </a:p>
          <a:p>
            <a:pPr fontAlgn="auto">
              <a:lnSpc>
                <a:spcPct val="17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synchronized 不需要手动获取锁和释放锁，使用简单，发生异常会自动释放锁，不会造成死锁； 而 lock 需要自己加锁和释放锁，如果使用不当没有 unLock()去释放锁就会造成死锁。 </a:t>
            </a:r>
          </a:p>
          <a:p>
            <a:pPr fontAlgn="auto">
              <a:lnSpc>
                <a:spcPct val="17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通过 Lock 可以知道有没有成功获取锁，而 synchronized 却无法办到。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365440" y="244189"/>
            <a:ext cx="8771021" cy="517190"/>
          </a:xfrm>
        </p:spPr>
        <p:txBody>
          <a:bodyPr/>
          <a:lstStyle/>
          <a:p>
            <a:r>
              <a:rPr kumimoji="1" dirty="0"/>
              <a:t>多线程面试题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365440" y="940716"/>
            <a:ext cx="10749599" cy="517190"/>
          </a:xfrm>
        </p:spPr>
        <p:txBody>
          <a:bodyPr/>
          <a:lstStyle/>
          <a:p>
            <a:r>
              <a:rPr kumimoji="1" dirty="0"/>
              <a:t>JDK自带的线程池有哪些？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436880" y="1703705"/>
            <a:ext cx="11040110" cy="26409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fontAlgn="auto">
              <a:lnSpc>
                <a:spcPct val="17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1. FixedThreadPool（‌固定大小的线程池）‌</a:t>
            </a:r>
          </a:p>
          <a:p>
            <a:pPr fontAlgn="auto">
              <a:lnSpc>
                <a:spcPct val="17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2. CachedThreadPool（‌可缓存线程池，这个线程池会根据需要创建新线程，‌并在空闲线程超过60秒未被使用时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会被终止回收，‌以减少系统资源的消耗）‌</a:t>
            </a:r>
          </a:p>
          <a:p>
            <a:pPr fontAlgn="auto">
              <a:lnSpc>
                <a:spcPct val="17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3. SingleThreadExecutor（‌单线程线程池）‌</a:t>
            </a:r>
          </a:p>
          <a:p>
            <a:pPr fontAlgn="auto">
              <a:lnSpc>
                <a:spcPct val="17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4. 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ScheduledThreadPool（‌定时/周期性执行任务的线程池）‌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365440" y="244189"/>
            <a:ext cx="8771021" cy="517190"/>
          </a:xfrm>
        </p:spPr>
        <p:txBody>
          <a:bodyPr/>
          <a:lstStyle/>
          <a:p>
            <a:r>
              <a:rPr kumimoji="1" dirty="0"/>
              <a:t>多线程面试题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365440" y="940716"/>
            <a:ext cx="10749599" cy="517190"/>
          </a:xfrm>
        </p:spPr>
        <p:txBody>
          <a:bodyPr/>
          <a:lstStyle/>
          <a:p>
            <a:r>
              <a:rPr kumimoji="1" dirty="0"/>
              <a:t>创建线程池的核心参数？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365125" y="1504950"/>
            <a:ext cx="11040110" cy="422465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1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、corePoolSize（核心线程数）：线程池中一直保持的线程数量，不受空闲时间的影响。</a:t>
            </a:r>
          </a:p>
          <a:p>
            <a:pPr algn="l">
              <a:lnSpc>
                <a:spcPct val="150000"/>
              </a:lnSpc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2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、maximumPoolSize（最大线程数）：线程池能够容纳同时执行的最大线程数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algn="l">
              <a:lnSpc>
                <a:spcPct val="150000"/>
              </a:lnSpc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3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、keepAliveTime（空闲线程存活时间）：这是指非核心线程的空闲时间，超过这个时间就会被销毁。</a:t>
            </a:r>
          </a:p>
          <a:p>
            <a:pPr algn="l">
              <a:lnSpc>
                <a:spcPct val="150000"/>
              </a:lnSpc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4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、keepAliveTime的时间单位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algn="l">
              <a:lnSpc>
                <a:spcPct val="150000"/>
              </a:lnSpc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5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、workQueue（工作队列）：这是一个阻塞队列，用于存储等待执行的任务。当线程池中的线程数达到核心线程数时，新的任务将被加入工作队列等待执行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algn="l">
              <a:lnSpc>
                <a:spcPct val="150000"/>
              </a:lnSpc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6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、threadFactory（线程工厂）：创建新的线程，可以定制线程的名字、线程组、优先级等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algn="l">
              <a:lnSpc>
                <a:spcPct val="150000"/>
              </a:lnSpc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7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、rejectedExecutionHandler（拒绝策略）：当线程池和工作队列都已经达到最大容量，无法再接收新的任务时，拒绝策略将被触发。常见的拒绝策略包括抛出异常、直接丢弃任务、丢弃队列中最老的任务等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365440" y="244189"/>
            <a:ext cx="8771021" cy="517190"/>
          </a:xfrm>
        </p:spPr>
        <p:txBody>
          <a:bodyPr/>
          <a:lstStyle/>
          <a:p>
            <a:r>
              <a:rPr kumimoji="1" dirty="0"/>
              <a:t>多线程面试题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365440" y="940716"/>
            <a:ext cx="10749599" cy="517190"/>
          </a:xfrm>
        </p:spPr>
        <p:txBody>
          <a:bodyPr/>
          <a:lstStyle/>
          <a:p>
            <a:r>
              <a:rPr kumimoji="1" dirty="0"/>
              <a:t>解释下线程池的执行原理？</a:t>
            </a: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460" y="1697990"/>
            <a:ext cx="8820785" cy="409003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365440" y="244189"/>
            <a:ext cx="8771021" cy="517190"/>
          </a:xfrm>
        </p:spPr>
        <p:txBody>
          <a:bodyPr/>
          <a:lstStyle/>
          <a:p>
            <a:r>
              <a:rPr kumimoji="1" dirty="0"/>
              <a:t>多线程面试题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365440" y="940716"/>
            <a:ext cx="10749599" cy="517190"/>
          </a:xfrm>
        </p:spPr>
        <p:txBody>
          <a:bodyPr/>
          <a:lstStyle/>
          <a:p>
            <a:r>
              <a:rPr kumimoji="1" dirty="0"/>
              <a:t>如何合理的分配线程池大小？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436880" y="1703705"/>
            <a:ext cx="11040110" cy="246951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fontAlgn="auto">
              <a:lnSpc>
                <a:spcPct val="17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1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、I/O密集型任务，‌如文件读写或网络通信，‌大小可以设置得更大一些，‌以充分利用I/O操作的并发性</a:t>
            </a:r>
          </a:p>
          <a:p>
            <a:pPr fontAlgn="auto">
              <a:lnSpc>
                <a:spcPct val="17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2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、CPU密集型任务，‌那些主要依赖CPU计算而不是I/O操作的任务，‌大小可以根据CPU核心数进行设置</a:t>
            </a:r>
          </a:p>
          <a:p>
            <a:pPr fontAlgn="auto">
              <a:lnSpc>
                <a:spcPct val="17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3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、使用有界队列来限制任务队列的大小，‌避免队列无限制增长导致内存耗尽</a:t>
            </a:r>
          </a:p>
          <a:p>
            <a:pPr fontAlgn="auto">
              <a:lnSpc>
                <a:spcPct val="17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4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、实时监控线程池的状态和性能指标，‌如响应时间和吞吐量等，‌根据实际情况动态调整线程池的大小和配置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365440" y="244189"/>
            <a:ext cx="8771021" cy="517190"/>
          </a:xfrm>
        </p:spPr>
        <p:txBody>
          <a:bodyPr/>
          <a:lstStyle/>
          <a:p>
            <a:r>
              <a:rPr kumimoji="1" dirty="0"/>
              <a:t>多线程面试题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365440" y="940716"/>
            <a:ext cx="10749599" cy="517190"/>
          </a:xfrm>
        </p:spPr>
        <p:txBody>
          <a:bodyPr/>
          <a:lstStyle/>
          <a:p>
            <a:r>
              <a:rPr kumimoji="1" dirty="0"/>
              <a:t>阿里开发手册为什么不建议使用Executors创建线程池？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6825" y="1457960"/>
            <a:ext cx="5691505" cy="134683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680" y="4832350"/>
            <a:ext cx="8651240" cy="116268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995680" y="6271260"/>
            <a:ext cx="7237730" cy="365760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l"/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rPr>
              <a:t>结论：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rPr>
              <a:t>大量的线程同时在执行或者堆积在等待队列中，容易造成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rPr>
              <a:t>OOM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5680" y="3130550"/>
            <a:ext cx="5367020" cy="142367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31990" y="3217545"/>
            <a:ext cx="2925445" cy="12509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365440" y="244189"/>
            <a:ext cx="8771021" cy="517190"/>
          </a:xfrm>
        </p:spPr>
        <p:txBody>
          <a:bodyPr/>
          <a:lstStyle/>
          <a:p>
            <a:r>
              <a:rPr kumimoji="1" dirty="0"/>
              <a:t>多线程面试题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365440" y="940716"/>
            <a:ext cx="10749599" cy="517190"/>
          </a:xfrm>
        </p:spPr>
        <p:txBody>
          <a:bodyPr/>
          <a:lstStyle/>
          <a:p>
            <a:r>
              <a:rPr kumimoji="1" dirty="0"/>
              <a:t>如何保证线程池T1、T2、T3顺序执行？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436880" y="1703705"/>
            <a:ext cx="11040110" cy="139509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fontAlgn="auto">
              <a:lnSpc>
                <a:spcPct val="17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1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、使用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Join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方法</a:t>
            </a:r>
          </a:p>
          <a:p>
            <a:pPr fontAlgn="auto">
              <a:lnSpc>
                <a:spcPct val="17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2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、单线程池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890" y="3246755"/>
            <a:ext cx="4643755" cy="10953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365440" y="244189"/>
            <a:ext cx="8771021" cy="517190"/>
          </a:xfrm>
        </p:spPr>
        <p:txBody>
          <a:bodyPr/>
          <a:lstStyle/>
          <a:p>
            <a:r>
              <a:rPr kumimoji="1" dirty="0"/>
              <a:t>多线程面试题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365440" y="940716"/>
            <a:ext cx="10749599" cy="517190"/>
          </a:xfrm>
        </p:spPr>
        <p:txBody>
          <a:bodyPr/>
          <a:lstStyle/>
          <a:p>
            <a:r>
              <a:rPr kumimoji="1" dirty="0"/>
              <a:t>主线程等着其他子线程都执行完了再继续往下执行，怎么实现？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436880" y="1703705"/>
            <a:ext cx="11040110" cy="26409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fontAlgn="auto">
              <a:lnSpc>
                <a:spcPct val="17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CountDownLatch是一个同步工具类，‌允许一个或多个线程等待其他线程完成操作。‌通过初始化CountDownLatch的计数器，‌当所有子线程完成任务时，‌计数器归零，‌主线程可以继续执行。</a:t>
            </a:r>
          </a:p>
          <a:p>
            <a:pPr fontAlgn="auto">
              <a:lnSpc>
                <a:spcPct val="17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‌这种方法适用于需要等待多个子线程完成的情况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12c42a1e-b098-4334-8256-e5821a5f84d7"/>
  <p:tag name="COMMONDATA" val="eyJoZGlkIjoiZThmNjAzMWJlZjFkMmQwODUwMTJkYzE2ODFiYmFmYTcifQ=="/>
</p:tagLst>
</file>

<file path=ppt/theme/theme1.xml><?xml version="1.0" encoding="utf-8"?>
<a:theme xmlns:a="http://schemas.openxmlformats.org/drawingml/2006/main" name="封面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目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章节页版式（一级+二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章节页版式（一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5_结束页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787</Words>
  <Application>Microsoft Office PowerPoint</Application>
  <PresentationFormat>宽屏</PresentationFormat>
  <Paragraphs>61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7</vt:i4>
      </vt:variant>
      <vt:variant>
        <vt:lpstr>幻灯片标题</vt:lpstr>
      </vt:variant>
      <vt:variant>
        <vt:i4>13</vt:i4>
      </vt:variant>
    </vt:vector>
  </HeadingPairs>
  <TitlesOfParts>
    <vt:vector size="33" baseType="lpstr">
      <vt:lpstr>Alibaba PuHuiTi B</vt:lpstr>
      <vt:lpstr>Alibaba PuHuiTi M</vt:lpstr>
      <vt:lpstr>Alibaba PuHuiTi R</vt:lpstr>
      <vt:lpstr>阿里巴巴普惠体</vt:lpstr>
      <vt:lpstr>等线</vt:lpstr>
      <vt:lpstr>黑体</vt:lpstr>
      <vt:lpstr>华文楷体</vt:lpstr>
      <vt:lpstr>Arial</vt:lpstr>
      <vt:lpstr>Calibri</vt:lpstr>
      <vt:lpstr>Century Gothic</vt:lpstr>
      <vt:lpstr>Segoe UI</vt:lpstr>
      <vt:lpstr>Verdana</vt:lpstr>
      <vt:lpstr>Wingdings</vt:lpstr>
      <vt:lpstr>封面2</vt:lpstr>
      <vt:lpstr>目录</vt:lpstr>
      <vt:lpstr>学习目标</vt:lpstr>
      <vt:lpstr>章节页版式（一级+二级标题）</vt:lpstr>
      <vt:lpstr>章节页版式（一级标题）</vt:lpstr>
      <vt:lpstr>正文设计方案</vt:lpstr>
      <vt:lpstr>5_结束页设计方案</vt:lpstr>
      <vt:lpstr>多线程面试题</vt:lpstr>
      <vt:lpstr>多线程面试题</vt:lpstr>
      <vt:lpstr>多线程面试题</vt:lpstr>
      <vt:lpstr>多线程面试题</vt:lpstr>
      <vt:lpstr>多线程面试题</vt:lpstr>
      <vt:lpstr>多线程面试题</vt:lpstr>
      <vt:lpstr>多线程面试题</vt:lpstr>
      <vt:lpstr>多线程面试题</vt:lpstr>
      <vt:lpstr>多线程面试题</vt:lpstr>
      <vt:lpstr>多线程面试题</vt:lpstr>
      <vt:lpstr>多线程面试题</vt:lpstr>
      <vt:lpstr>多线程面试题</vt:lpstr>
      <vt:lpstr>多线程面试题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8802</dc:creator>
  <cp:lastModifiedBy>hy chen</cp:lastModifiedBy>
  <cp:revision>1702</cp:revision>
  <dcterms:created xsi:type="dcterms:W3CDTF">2020-03-31T02:23:00Z</dcterms:created>
  <dcterms:modified xsi:type="dcterms:W3CDTF">2025-10-15T00:38:54Z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5B7BA5D51A5A4D738150DEB1F7D88829</vt:lpwstr>
  </property>
  <property fmtid="{D5CDD505-2E9C-101B-9397-08002B2CF9AE}" pid="3" name="KSOProductBuildVer">
    <vt:lpwstr>2052-12.1.0.16929</vt:lpwstr>
  </property>
</Properties>
</file>